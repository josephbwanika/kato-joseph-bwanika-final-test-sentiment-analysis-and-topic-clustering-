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2" r:id="rId7"/>
    <p:sldId id="270" r:id="rId8"/>
    <p:sldId id="271" r:id="rId9"/>
    <p:sldId id="272" r:id="rId10"/>
    <p:sldId id="273" r:id="rId11"/>
    <p:sldId id="274" r:id="rId12"/>
    <p:sldId id="275" r:id="rId13"/>
    <p:sldId id="277" r:id="rId14"/>
    <p:sldId id="276" r:id="rId15"/>
    <p:sldId id="264" r:id="rId16"/>
    <p:sldId id="278" r:id="rId17"/>
    <p:sldId id="279" r:id="rId18"/>
    <p:sldId id="281" r:id="rId19"/>
    <p:sldId id="282" r:id="rId20"/>
    <p:sldId id="283" r:id="rId21"/>
    <p:sldId id="284" r:id="rId22"/>
    <p:sldId id="285" r:id="rId23"/>
    <p:sldId id="286" r:id="rId24"/>
    <p:sldId id="287"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516" y="-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9758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40BB5-887C-C391-F6AD-4AC6E93AE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BE968-AE14-744B-CD45-BAA200211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01468-3A50-B881-0401-469DCD6AB3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C89E87-36F1-D576-71A3-A7D7340BBC0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49809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0D842-E9B2-5B79-1450-85F4FEBFD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EAE58-D8F0-51AB-4E7C-69D24736D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69F34-C17F-0E4B-A9D1-0A7D735E8F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F1132F-456B-0C5D-2F15-D4C8880FF84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631802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A1FE-A744-0CCD-7473-CDE33951D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70205-6C1B-4CE9-0175-786AEDCEE0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A1B3D-9199-DF7A-9AF4-7AF088511F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94CDE2-2DFB-D85B-58D3-B1EEF8AFE2F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4234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0320F-3485-16EF-B1B4-37FF0D5E6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21FC1-FC20-45F4-0542-F069C2349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FC085-B13F-8AFD-42A2-C201496343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438638-235D-EF99-50C3-5058CC3CCE8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62624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F96F1-EF92-7CAB-E6B3-7FDACD3DC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D3C95-291C-F1FA-1D44-4F2A7A63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B26F9-60F4-8E91-3310-3C5DFE37A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648A81-7D2A-DD04-1C5B-85C2A9A5033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980640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8AD9-118A-CBE4-B6AE-C76C4E7035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228DB-32FD-5EB0-F942-D7C7D74A14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C301F-5C53-7ECE-D010-EF8BF5416D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EA95C0-F142-5EDD-1AA0-5893616236A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595525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71EBF-87D9-FB86-3A98-187020202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91A34-BEC0-D320-18FB-322D1C35B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63EF47-24A4-280E-A2B2-69A148C9EA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45D7D3-7224-DA0B-B959-2EB60406E17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473324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4E33B-F910-EE57-F7F3-18FD9E1FB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E945C-8189-CD55-C229-56172F013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42BFA-DE45-0F41-7087-B762D5A36B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BC418B-1AD7-8B25-3D50-C686B2FDB97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164220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28600" y="-45720"/>
            <a:ext cx="1005840" cy="1005840"/>
          </a:xfrm>
          <a:prstGeom prst="ellipse">
            <a:avLst/>
          </a:prstGeom>
          <a:solidFill>
            <a:srgbClr val="0097A7">
              <a:alpha val="30000"/>
            </a:srgbClr>
          </a:solidFill>
          <a:ln w="12700">
            <a:solidFill>
              <a:srgbClr val="0097A7"/>
            </a:solidFill>
            <a:prstDash val="solid"/>
          </a:ln>
        </p:spPr>
        <p:txBody>
          <a:bodyPr/>
          <a:lstStyle/>
          <a:p>
            <a:endParaRPr lang="en-US"/>
          </a:p>
        </p:txBody>
      </p:sp>
      <p:sp>
        <p:nvSpPr>
          <p:cNvPr id="3" name="Shape 1"/>
          <p:cNvSpPr/>
          <p:nvPr/>
        </p:nvSpPr>
        <p:spPr>
          <a:xfrm>
            <a:off x="342900" y="891540"/>
            <a:ext cx="594360" cy="594360"/>
          </a:xfrm>
          <a:prstGeom prst="ellipse">
            <a:avLst/>
          </a:prstGeom>
          <a:solidFill>
            <a:srgbClr val="F5C518">
              <a:alpha val="30000"/>
            </a:srgbClr>
          </a:solidFill>
          <a:ln w="12700">
            <a:solidFill>
              <a:srgbClr val="F5C518"/>
            </a:solidFill>
            <a:prstDash val="solid"/>
          </a:ln>
        </p:spPr>
      </p:sp>
      <p:sp>
        <p:nvSpPr>
          <p:cNvPr id="4" name="Shape 2"/>
          <p:cNvSpPr/>
          <p:nvPr/>
        </p:nvSpPr>
        <p:spPr>
          <a:xfrm>
            <a:off x="-228600" y="1737360"/>
            <a:ext cx="731520" cy="731520"/>
          </a:xfrm>
          <a:prstGeom prst="ellipse">
            <a:avLst/>
          </a:prstGeom>
          <a:solidFill>
            <a:srgbClr val="7B2D8B">
              <a:alpha val="30000"/>
            </a:srgbClr>
          </a:solidFill>
          <a:ln w="12700">
            <a:solidFill>
              <a:srgbClr val="7B2D8B"/>
            </a:solidFill>
            <a:prstDash val="solid"/>
          </a:ln>
        </p:spPr>
      </p:sp>
      <p:sp>
        <p:nvSpPr>
          <p:cNvPr id="5" name="Shape 3"/>
          <p:cNvSpPr/>
          <p:nvPr/>
        </p:nvSpPr>
        <p:spPr>
          <a:xfrm>
            <a:off x="480060" y="2674620"/>
            <a:ext cx="502920" cy="502920"/>
          </a:xfrm>
          <a:prstGeom prst="ellipse">
            <a:avLst/>
          </a:prstGeom>
          <a:solidFill>
            <a:srgbClr val="F48C06">
              <a:alpha val="30000"/>
            </a:srgbClr>
          </a:solidFill>
          <a:ln w="12700">
            <a:solidFill>
              <a:srgbClr val="F48C06"/>
            </a:solidFill>
            <a:prstDash val="solid"/>
          </a:ln>
        </p:spPr>
      </p:sp>
      <p:sp>
        <p:nvSpPr>
          <p:cNvPr id="6" name="Shape 4"/>
          <p:cNvSpPr/>
          <p:nvPr/>
        </p:nvSpPr>
        <p:spPr>
          <a:xfrm>
            <a:off x="-137160" y="3429000"/>
            <a:ext cx="640080" cy="640080"/>
          </a:xfrm>
          <a:prstGeom prst="ellipse">
            <a:avLst/>
          </a:prstGeom>
          <a:solidFill>
            <a:srgbClr val="1A73E8">
              <a:alpha val="30000"/>
            </a:srgbClr>
          </a:solidFill>
          <a:ln w="12700">
            <a:solidFill>
              <a:srgbClr val="1A73E8"/>
            </a:solidFill>
            <a:prstDash val="solid"/>
          </a:ln>
        </p:spPr>
      </p:sp>
      <p:grpSp>
        <p:nvGrpSpPr>
          <p:cNvPr id="16" name="Group 15">
            <a:extLst>
              <a:ext uri="{FF2B5EF4-FFF2-40B4-BE49-F238E27FC236}">
                <a16:creationId xmlns:a16="http://schemas.microsoft.com/office/drawing/2014/main" id="{49E17923-2E38-467A-8C27-1D4B523013A3}"/>
              </a:ext>
            </a:extLst>
          </p:cNvPr>
          <p:cNvGrpSpPr/>
          <p:nvPr/>
        </p:nvGrpSpPr>
        <p:grpSpPr>
          <a:xfrm>
            <a:off x="8138160" y="0"/>
            <a:ext cx="1005840" cy="2103120"/>
            <a:chOff x="8138160" y="0"/>
            <a:chExt cx="1005840" cy="2103120"/>
          </a:xfrm>
        </p:grpSpPr>
        <p:sp>
          <p:nvSpPr>
            <p:cNvPr id="7" name="Shape 5"/>
            <p:cNvSpPr/>
            <p:nvPr/>
          </p:nvSpPr>
          <p:spPr>
            <a:xfrm>
              <a:off x="8229600" y="0"/>
              <a:ext cx="914400" cy="914400"/>
            </a:xfrm>
            <a:prstGeom prst="ellipse">
              <a:avLst/>
            </a:prstGeom>
            <a:solidFill>
              <a:srgbClr val="F48C06">
                <a:alpha val="30000"/>
              </a:srgbClr>
            </a:solidFill>
            <a:ln w="12700">
              <a:solidFill>
                <a:srgbClr val="F48C06"/>
              </a:solidFill>
              <a:prstDash val="solid"/>
            </a:ln>
          </p:spPr>
        </p:sp>
        <p:sp>
          <p:nvSpPr>
            <p:cNvPr id="8" name="Shape 6"/>
            <p:cNvSpPr/>
            <p:nvPr/>
          </p:nvSpPr>
          <p:spPr>
            <a:xfrm>
              <a:off x="8138160" y="1554480"/>
              <a:ext cx="548640" cy="548640"/>
            </a:xfrm>
            <a:prstGeom prst="ellipse">
              <a:avLst/>
            </a:prstGeom>
            <a:solidFill>
              <a:srgbClr val="D62828">
                <a:alpha val="30000"/>
              </a:srgbClr>
            </a:solidFill>
            <a:ln w="12700">
              <a:solidFill>
                <a:srgbClr val="D62828"/>
              </a:solidFill>
              <a:prstDash val="solid"/>
            </a:ln>
          </p:spPr>
          <p:txBody>
            <a:bodyPr/>
            <a:lstStyle/>
            <a:p>
              <a:endParaRPr lang="en-US"/>
            </a:p>
          </p:txBody>
        </p:sp>
      </p:grpSp>
      <p:sp>
        <p:nvSpPr>
          <p:cNvPr id="9" name="Shape 7"/>
          <p:cNvSpPr/>
          <p:nvPr/>
        </p:nvSpPr>
        <p:spPr>
          <a:xfrm>
            <a:off x="8412480" y="2834640"/>
            <a:ext cx="731520" cy="731520"/>
          </a:xfrm>
          <a:prstGeom prst="ellipse">
            <a:avLst/>
          </a:prstGeom>
          <a:solidFill>
            <a:srgbClr val="7B2D8B">
              <a:alpha val="30000"/>
            </a:srgbClr>
          </a:solidFill>
          <a:ln w="12700">
            <a:solidFill>
              <a:srgbClr val="7B2D8B"/>
            </a:solidFill>
            <a:prstDash val="solid"/>
          </a:ln>
        </p:spPr>
      </p:sp>
      <p:sp>
        <p:nvSpPr>
          <p:cNvPr id="10" name="Shape 8"/>
          <p:cNvSpPr/>
          <p:nvPr/>
        </p:nvSpPr>
        <p:spPr>
          <a:xfrm>
            <a:off x="8275320" y="3977640"/>
            <a:ext cx="457200" cy="457200"/>
          </a:xfrm>
          <a:prstGeom prst="ellipse">
            <a:avLst/>
          </a:prstGeom>
          <a:solidFill>
            <a:srgbClr val="0097A7">
              <a:alpha val="30000"/>
            </a:srgbClr>
          </a:solidFill>
          <a:ln w="12700">
            <a:solidFill>
              <a:srgbClr val="0097A7"/>
            </a:solidFill>
            <a:prstDash val="solid"/>
          </a:ln>
        </p:spPr>
      </p:sp>
      <p:grpSp>
        <p:nvGrpSpPr>
          <p:cNvPr id="25" name="Group 24">
            <a:extLst>
              <a:ext uri="{FF2B5EF4-FFF2-40B4-BE49-F238E27FC236}">
                <a16:creationId xmlns:a16="http://schemas.microsoft.com/office/drawing/2014/main" id="{96859210-AC64-7BA4-038B-5E6ED5112178}"/>
              </a:ext>
            </a:extLst>
          </p:cNvPr>
          <p:cNvGrpSpPr/>
          <p:nvPr/>
        </p:nvGrpSpPr>
        <p:grpSpPr>
          <a:xfrm>
            <a:off x="5943600" y="68580"/>
            <a:ext cx="2194560" cy="2194560"/>
            <a:chOff x="3474720" y="502920"/>
            <a:chExt cx="2194560" cy="2194560"/>
          </a:xfrm>
        </p:grpSpPr>
        <p:sp>
          <p:nvSpPr>
            <p:cNvPr id="11" name="Shape 9"/>
            <p:cNvSpPr/>
            <p:nvPr/>
          </p:nvSpPr>
          <p:spPr>
            <a:xfrm>
              <a:off x="3474720" y="502920"/>
              <a:ext cx="2194560" cy="2194560"/>
            </a:xfrm>
            <a:prstGeom prst="ellipse">
              <a:avLst/>
            </a:prstGeom>
            <a:solidFill>
              <a:srgbClr val="0097A7">
                <a:alpha val="15000"/>
              </a:srgbClr>
            </a:solidFill>
            <a:ln w="25400">
              <a:solidFill>
                <a:srgbClr val="0097A7"/>
              </a:solidFill>
              <a:prstDash val="solid"/>
            </a:ln>
          </p:spPr>
        </p:sp>
        <p:sp>
          <p:nvSpPr>
            <p:cNvPr id="12" name="Shape 10"/>
            <p:cNvSpPr/>
            <p:nvPr/>
          </p:nvSpPr>
          <p:spPr>
            <a:xfrm>
              <a:off x="3886200" y="914400"/>
              <a:ext cx="1371600" cy="1371600"/>
            </a:xfrm>
            <a:prstGeom prst="ellipse">
              <a:avLst/>
            </a:prstGeom>
            <a:solidFill>
              <a:srgbClr val="0097A7">
                <a:alpha val="40000"/>
              </a:srgbClr>
            </a:solidFill>
            <a:ln w="12700">
              <a:solidFill>
                <a:srgbClr val="0097A7"/>
              </a:solidFill>
              <a:prstDash val="solid"/>
            </a:ln>
          </p:spPr>
          <p:txBody>
            <a:bodyPr/>
            <a:lstStyle/>
            <a:p>
              <a:endParaRPr lang="en-US"/>
            </a:p>
          </p:txBody>
        </p:sp>
        <p:sp>
          <p:nvSpPr>
            <p:cNvPr id="13" name="Shape 11"/>
            <p:cNvSpPr/>
            <p:nvPr/>
          </p:nvSpPr>
          <p:spPr>
            <a:xfrm>
              <a:off x="4206240" y="1234440"/>
              <a:ext cx="731520" cy="731520"/>
            </a:xfrm>
            <a:prstGeom prst="ellipse">
              <a:avLst/>
            </a:prstGeom>
            <a:solidFill>
              <a:schemeClr val="accent2"/>
            </a:solidFill>
            <a:ln w="12700">
              <a:solidFill>
                <a:srgbClr val="0097A7"/>
              </a:solidFill>
              <a:prstDash val="solid"/>
            </a:ln>
          </p:spPr>
          <p:txBody>
            <a:bodyPr/>
            <a:lstStyle/>
            <a:p>
              <a:endParaRPr lang="en-US" dirty="0"/>
            </a:p>
          </p:txBody>
        </p:sp>
      </p:grpSp>
      <p:sp>
        <p:nvSpPr>
          <p:cNvPr id="14" name="Text 12"/>
          <p:cNvSpPr/>
          <p:nvPr/>
        </p:nvSpPr>
        <p:spPr>
          <a:xfrm>
            <a:off x="91440" y="642159"/>
            <a:ext cx="6949440" cy="914400"/>
          </a:xfrm>
          <a:prstGeom prst="rect">
            <a:avLst/>
          </a:prstGeom>
          <a:noFill/>
          <a:ln/>
        </p:spPr>
        <p:txBody>
          <a:bodyPr wrap="square" rtlCol="0" anchor="ctr"/>
          <a:lstStyle/>
          <a:p>
            <a:pPr algn="ctr"/>
            <a:r>
              <a:rPr lang="en-US" sz="4400" b="1" dirty="0">
                <a:solidFill>
                  <a:srgbClr val="C00000"/>
                </a:solidFill>
              </a:rPr>
              <a:t>NLP Practical Exam</a:t>
            </a:r>
          </a:p>
        </p:txBody>
      </p:sp>
      <p:sp>
        <p:nvSpPr>
          <p:cNvPr id="15" name="Text 13"/>
          <p:cNvSpPr/>
          <p:nvPr/>
        </p:nvSpPr>
        <p:spPr>
          <a:xfrm>
            <a:off x="640080" y="1718657"/>
            <a:ext cx="6149340" cy="914400"/>
          </a:xfrm>
          <a:prstGeom prst="rect">
            <a:avLst/>
          </a:prstGeom>
          <a:noFill/>
          <a:ln/>
        </p:spPr>
        <p:txBody>
          <a:bodyPr wrap="square" rtlCol="0" anchor="ctr"/>
          <a:lstStyle/>
          <a:p>
            <a:pPr marL="0" indent="0" algn="ctr">
              <a:buNone/>
            </a:pPr>
            <a:r>
              <a:rPr lang="en-US" sz="3200" b="1" dirty="0">
                <a:solidFill>
                  <a:srgbClr val="0070C0"/>
                </a:solidFill>
              </a:rPr>
              <a:t>Sentiment Analysis &amp; Topic Clustering</a:t>
            </a:r>
            <a:endParaRPr lang="en-US" sz="2800" b="1" dirty="0">
              <a:solidFill>
                <a:srgbClr val="0070C0"/>
              </a:solidFill>
            </a:endParaRPr>
          </a:p>
        </p:txBody>
      </p:sp>
      <p:sp>
        <p:nvSpPr>
          <p:cNvPr id="23" name="Text 21"/>
          <p:cNvSpPr/>
          <p:nvPr/>
        </p:nvSpPr>
        <p:spPr>
          <a:xfrm>
            <a:off x="1409007" y="2997777"/>
            <a:ext cx="5070764" cy="1665663"/>
          </a:xfrm>
          <a:prstGeom prst="rect">
            <a:avLst/>
          </a:prstGeom>
          <a:noFill/>
          <a:ln/>
        </p:spPr>
        <p:txBody>
          <a:bodyPr wrap="square" rtlCol="0" anchor="ctr"/>
          <a:lstStyle/>
          <a:p>
            <a:pPr marL="0" indent="0" algn="ctr">
              <a:buNone/>
            </a:pPr>
            <a:r>
              <a:rPr lang="en-US" b="1" dirty="0"/>
              <a:t>NAME: Kato Joseph Bwanika</a:t>
            </a:r>
          </a:p>
          <a:p>
            <a:pPr algn="ctr"/>
            <a:r>
              <a:rPr lang="en-US" b="1" dirty="0"/>
              <a:t>BSc. Computer Science</a:t>
            </a:r>
          </a:p>
          <a:p>
            <a:pPr marL="0" indent="0" algn="ctr">
              <a:buNone/>
            </a:pPr>
            <a:r>
              <a:rPr lang="en-US" b="1" dirty="0"/>
              <a:t>Reg. No: 2023-B291-11709</a:t>
            </a:r>
          </a:p>
          <a:p>
            <a:pPr algn="ctr"/>
            <a:r>
              <a:rPr lang="en-US" b="1" dirty="0"/>
              <a:t>Lecturer: Dr. Sibitenda Harriet</a:t>
            </a:r>
            <a:endParaRPr lang="en-AU" b="1" dirty="0"/>
          </a:p>
          <a:p>
            <a:pPr marL="0" indent="0" algn="ctr">
              <a:buNone/>
            </a:pPr>
            <a:endParaRPr lang="en-US" b="1" dirty="0"/>
          </a:p>
          <a:p>
            <a:pPr marL="0" indent="0" algn="ctr">
              <a:buNone/>
            </a:pPr>
            <a:endParaRPr lang="en-US" b="1" dirty="0"/>
          </a:p>
          <a:p>
            <a:pPr marL="0" indent="0" algn="ctr">
              <a:buNone/>
            </a:pPr>
            <a:endParaRPr lang="en-US" b="1" dirty="0"/>
          </a:p>
        </p:txBody>
      </p:sp>
      <p:sp>
        <p:nvSpPr>
          <p:cNvPr id="24" name="Text 22"/>
          <p:cNvSpPr/>
          <p:nvPr/>
        </p:nvSpPr>
        <p:spPr>
          <a:xfrm>
            <a:off x="1097280" y="4160520"/>
            <a:ext cx="6949440" cy="411480"/>
          </a:xfrm>
          <a:prstGeom prst="rect">
            <a:avLst/>
          </a:prstGeom>
          <a:noFill/>
          <a:ln/>
        </p:spPr>
        <p:txBody>
          <a:bodyPr wrap="square" rtlCol="0" anchor="ctr"/>
          <a:lstStyle/>
          <a:p>
            <a:pPr marL="0" indent="0" algn="ctr">
              <a:buNone/>
            </a:pPr>
            <a:r>
              <a:rPr lang="en-US" sz="1100" dirty="0">
                <a:solidFill>
                  <a:srgbClr val="AAAAAA"/>
                </a:solidFill>
              </a:rPr>
              <a:t>Supervisor: Dr. Harriet Sibitenda  |  BSc. Computer Science  |  Uganda Martyrs University, Nkozi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256032"/>
            <a:ext cx="8595360" cy="594360"/>
          </a:xfrm>
          <a:prstGeom prst="rect">
            <a:avLst/>
          </a:prstGeom>
          <a:noFill/>
          <a:ln/>
        </p:spPr>
        <p:txBody>
          <a:bodyPr wrap="square" rtlCol="0" anchor="ctr"/>
          <a:lstStyle/>
          <a:p>
            <a:pPr marL="0" indent="0" algn="ctr">
              <a:buNone/>
            </a:pPr>
            <a:r>
              <a:rPr lang="en-US" sz="3200" b="1" dirty="0">
                <a:solidFill>
                  <a:srgbClr val="C00000"/>
                </a:solidFill>
                <a:latin typeface="Arial Black" pitchFamily="34" charset="0"/>
              </a:rPr>
              <a:t>Background &amp; Motivation</a:t>
            </a:r>
            <a:endParaRPr lang="en-US" sz="3200" dirty="0">
              <a:solidFill>
                <a:srgbClr val="C00000"/>
              </a:solidFill>
            </a:endParaRPr>
          </a:p>
        </p:txBody>
      </p:sp>
      <p:sp>
        <p:nvSpPr>
          <p:cNvPr id="4" name="Text 2"/>
          <p:cNvSpPr/>
          <p:nvPr/>
        </p:nvSpPr>
        <p:spPr>
          <a:xfrm>
            <a:off x="548640" y="1005840"/>
            <a:ext cx="8046720" cy="3657600"/>
          </a:xfrm>
          <a:prstGeom prst="rect">
            <a:avLst/>
          </a:prstGeom>
          <a:noFill/>
          <a:ln/>
        </p:spPr>
        <p:txBody>
          <a:bodyPr wrap="square" rtlCol="0" anchor="t"/>
          <a:lstStyle/>
          <a:p>
            <a:endParaRPr lang="en-US" sz="1600" b="1" dirty="0"/>
          </a:p>
        </p:txBody>
      </p:sp>
      <p:grpSp>
        <p:nvGrpSpPr>
          <p:cNvPr id="26" name="Group 25">
            <a:extLst>
              <a:ext uri="{FF2B5EF4-FFF2-40B4-BE49-F238E27FC236}">
                <a16:creationId xmlns:a16="http://schemas.microsoft.com/office/drawing/2014/main" id="{FC1B8D62-42E9-0D41-606D-E2E8F13E2FC7}"/>
              </a:ext>
            </a:extLst>
          </p:cNvPr>
          <p:cNvGrpSpPr/>
          <p:nvPr/>
        </p:nvGrpSpPr>
        <p:grpSpPr>
          <a:xfrm>
            <a:off x="6827520" y="3566160"/>
            <a:ext cx="2194560" cy="2194560"/>
            <a:chOff x="3474720" y="502920"/>
            <a:chExt cx="2194560" cy="2194560"/>
          </a:xfrm>
        </p:grpSpPr>
        <p:sp>
          <p:nvSpPr>
            <p:cNvPr id="27" name="Shape 9">
              <a:extLst>
                <a:ext uri="{FF2B5EF4-FFF2-40B4-BE49-F238E27FC236}">
                  <a16:creationId xmlns:a16="http://schemas.microsoft.com/office/drawing/2014/main" id="{8990BEF6-2E62-6976-413A-42D34180891A}"/>
                </a:ext>
              </a:extLst>
            </p:cNvPr>
            <p:cNvSpPr/>
            <p:nvPr/>
          </p:nvSpPr>
          <p:spPr>
            <a:xfrm>
              <a:off x="3474720" y="502920"/>
              <a:ext cx="2194560" cy="2194560"/>
            </a:xfrm>
            <a:prstGeom prst="ellipse">
              <a:avLst/>
            </a:prstGeom>
            <a:solidFill>
              <a:srgbClr val="0097A7">
                <a:alpha val="15000"/>
              </a:srgbClr>
            </a:solidFill>
            <a:ln w="25400">
              <a:solidFill>
                <a:srgbClr val="0097A7"/>
              </a:solidFill>
              <a:prstDash val="solid"/>
            </a:ln>
          </p:spPr>
        </p:sp>
        <p:sp>
          <p:nvSpPr>
            <p:cNvPr id="28" name="Shape 10">
              <a:extLst>
                <a:ext uri="{FF2B5EF4-FFF2-40B4-BE49-F238E27FC236}">
                  <a16:creationId xmlns:a16="http://schemas.microsoft.com/office/drawing/2014/main" id="{26FCC030-0EC8-8305-B97D-3A46F70831B1}"/>
                </a:ext>
              </a:extLst>
            </p:cNvPr>
            <p:cNvSpPr/>
            <p:nvPr/>
          </p:nvSpPr>
          <p:spPr>
            <a:xfrm>
              <a:off x="3886200" y="914400"/>
              <a:ext cx="1371600" cy="1371600"/>
            </a:xfrm>
            <a:prstGeom prst="ellipse">
              <a:avLst/>
            </a:prstGeom>
            <a:solidFill>
              <a:srgbClr val="0097A7">
                <a:alpha val="40000"/>
              </a:srgbClr>
            </a:solidFill>
            <a:ln w="12700">
              <a:solidFill>
                <a:srgbClr val="0097A7"/>
              </a:solidFill>
              <a:prstDash val="solid"/>
            </a:ln>
          </p:spPr>
          <p:txBody>
            <a:bodyPr/>
            <a:lstStyle/>
            <a:p>
              <a:endParaRPr lang="en-US"/>
            </a:p>
          </p:txBody>
        </p:sp>
        <p:sp>
          <p:nvSpPr>
            <p:cNvPr id="29" name="Shape 11">
              <a:extLst>
                <a:ext uri="{FF2B5EF4-FFF2-40B4-BE49-F238E27FC236}">
                  <a16:creationId xmlns:a16="http://schemas.microsoft.com/office/drawing/2014/main" id="{C80E445E-43DE-A82D-3191-3B57345AC4E2}"/>
                </a:ext>
              </a:extLst>
            </p:cNvPr>
            <p:cNvSpPr/>
            <p:nvPr/>
          </p:nvSpPr>
          <p:spPr>
            <a:xfrm>
              <a:off x="4206240" y="1234440"/>
              <a:ext cx="731520" cy="731520"/>
            </a:xfrm>
            <a:prstGeom prst="ellipse">
              <a:avLst/>
            </a:prstGeom>
            <a:solidFill>
              <a:schemeClr val="accent2"/>
            </a:solidFill>
            <a:ln w="12700">
              <a:solidFill>
                <a:srgbClr val="0097A7"/>
              </a:solidFill>
              <a:prstDash val="solid"/>
            </a:ln>
          </p:spPr>
          <p:txBody>
            <a:bodyPr/>
            <a:lstStyle/>
            <a:p>
              <a:endParaRPr lang="en-US" dirty="0"/>
            </a:p>
          </p:txBody>
        </p:sp>
      </p:grpSp>
      <p:grpSp>
        <p:nvGrpSpPr>
          <p:cNvPr id="3" name="Group 2">
            <a:extLst>
              <a:ext uri="{FF2B5EF4-FFF2-40B4-BE49-F238E27FC236}">
                <a16:creationId xmlns:a16="http://schemas.microsoft.com/office/drawing/2014/main" id="{3511DC09-FC51-C47D-07AD-485CD938CCA5}"/>
              </a:ext>
            </a:extLst>
          </p:cNvPr>
          <p:cNvGrpSpPr/>
          <p:nvPr/>
        </p:nvGrpSpPr>
        <p:grpSpPr>
          <a:xfrm>
            <a:off x="20532" y="55586"/>
            <a:ext cx="1083203" cy="863386"/>
            <a:chOff x="20532" y="55586"/>
            <a:chExt cx="1083203" cy="863386"/>
          </a:xfrm>
        </p:grpSpPr>
        <p:sp>
          <p:nvSpPr>
            <p:cNvPr id="31" name="Shape 1">
              <a:extLst>
                <a:ext uri="{FF2B5EF4-FFF2-40B4-BE49-F238E27FC236}">
                  <a16:creationId xmlns:a16="http://schemas.microsoft.com/office/drawing/2014/main" id="{10290178-CB02-C518-61DE-67BC49A0C0C2}"/>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32" name="Shape 2">
              <a:extLst>
                <a:ext uri="{FF2B5EF4-FFF2-40B4-BE49-F238E27FC236}">
                  <a16:creationId xmlns:a16="http://schemas.microsoft.com/office/drawing/2014/main" id="{D147272E-76F6-23F7-10F5-BBF5A8B61568}"/>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6" name="TextBox 5">
            <a:extLst>
              <a:ext uri="{FF2B5EF4-FFF2-40B4-BE49-F238E27FC236}">
                <a16:creationId xmlns:a16="http://schemas.microsoft.com/office/drawing/2014/main" id="{176AC001-D64B-BFD9-8BA7-1C61F549FEC1}"/>
              </a:ext>
            </a:extLst>
          </p:cNvPr>
          <p:cNvSpPr txBox="1"/>
          <p:nvPr/>
        </p:nvSpPr>
        <p:spPr>
          <a:xfrm>
            <a:off x="274320" y="1048256"/>
            <a:ext cx="8321040" cy="4154984"/>
          </a:xfrm>
          <a:prstGeom prst="rect">
            <a:avLst/>
          </a:prstGeom>
          <a:noFill/>
        </p:spPr>
        <p:txBody>
          <a:bodyPr wrap="square">
            <a:spAutoFit/>
          </a:bodyPr>
          <a:lstStyle/>
          <a:p>
            <a:r>
              <a:rPr lang="en-US" sz="2400" dirty="0"/>
              <a:t>Large volumes of text are generated daily from:</a:t>
            </a:r>
          </a:p>
          <a:p>
            <a:pPr marL="342900" indent="-342900">
              <a:buFont typeface="Wingdings" panose="05000000000000000000" pitchFamily="2" charset="2"/>
              <a:buChar char="v"/>
            </a:pPr>
            <a:r>
              <a:rPr lang="en-US" sz="2400" dirty="0"/>
              <a:t>Social media platforms </a:t>
            </a:r>
          </a:p>
          <a:p>
            <a:pPr marL="342900" indent="-342900">
              <a:buFont typeface="Wingdings" panose="05000000000000000000" pitchFamily="2" charset="2"/>
              <a:buChar char="v"/>
            </a:pPr>
            <a:r>
              <a:rPr lang="en-US" sz="2400" dirty="0"/>
              <a:t>Online news articles </a:t>
            </a:r>
          </a:p>
          <a:p>
            <a:r>
              <a:rPr lang="en-US" sz="2400" dirty="0"/>
              <a:t>This data is </a:t>
            </a:r>
            <a:r>
              <a:rPr lang="en-US" sz="2400" b="1" dirty="0"/>
              <a:t>unstructured</a:t>
            </a:r>
            <a:r>
              <a:rPr lang="en-US" sz="2400" dirty="0"/>
              <a:t>, making manual analysis difficult.</a:t>
            </a:r>
          </a:p>
          <a:p>
            <a:endParaRPr lang="en-US" sz="2400" dirty="0"/>
          </a:p>
          <a:p>
            <a:r>
              <a:rPr lang="en-US" sz="2400" dirty="0"/>
              <a:t>Natural Language Processing (NLP) enables:</a:t>
            </a:r>
          </a:p>
          <a:p>
            <a:pPr marL="342900" indent="-342900">
              <a:buFont typeface="Wingdings" panose="05000000000000000000" pitchFamily="2" charset="2"/>
              <a:buChar char="q"/>
            </a:pPr>
            <a:r>
              <a:rPr lang="en-US" sz="2400" dirty="0"/>
              <a:t>Automated text understanding </a:t>
            </a:r>
          </a:p>
          <a:p>
            <a:pPr marL="342900" indent="-342900">
              <a:buFont typeface="Wingdings" panose="05000000000000000000" pitchFamily="2" charset="2"/>
              <a:buChar char="q"/>
            </a:pPr>
            <a:r>
              <a:rPr lang="en-US" sz="2400" dirty="0"/>
              <a:t>Pattern discovery </a:t>
            </a:r>
          </a:p>
          <a:p>
            <a:pPr marL="342900" indent="-342900">
              <a:buFont typeface="Wingdings" panose="05000000000000000000" pitchFamily="2" charset="2"/>
              <a:buChar char="q"/>
            </a:pPr>
            <a:r>
              <a:rPr lang="en-US" sz="2400" dirty="0"/>
              <a:t>Insight generation </a:t>
            </a:r>
          </a:p>
          <a:p>
            <a:r>
              <a:rPr lang="en-US" sz="2400" dirty="0"/>
              <a:t>This project demonstrates a </a:t>
            </a:r>
            <a:r>
              <a:rPr lang="en-US" sz="2400" b="1" dirty="0"/>
              <a:t>complete NLP pipeline</a:t>
            </a:r>
            <a:r>
              <a:rPr lang="en-US" sz="2400" dirty="0"/>
              <a:t> applied to real-world datasets.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341103"/>
            <a:ext cx="8595360" cy="594360"/>
          </a:xfrm>
          <a:prstGeom prst="rect">
            <a:avLst/>
          </a:prstGeom>
          <a:noFill/>
          <a:ln/>
        </p:spPr>
        <p:txBody>
          <a:bodyPr wrap="square" rtlCol="0" anchor="ctr"/>
          <a:lstStyle/>
          <a:p>
            <a:pPr marL="0" indent="0" algn="ctr">
              <a:buNone/>
            </a:pPr>
            <a:r>
              <a:rPr lang="en-US" sz="3200" b="1" dirty="0">
                <a:solidFill>
                  <a:srgbClr val="C00000"/>
                </a:solidFill>
                <a:latin typeface="Arial Black" pitchFamily="34" charset="0"/>
                <a:ea typeface="Arial Black" pitchFamily="34" charset="-122"/>
                <a:cs typeface="Arial Black" pitchFamily="34" charset="-120"/>
              </a:rPr>
              <a:t>Objectives</a:t>
            </a:r>
            <a:endParaRPr lang="en-US" sz="3200" dirty="0">
              <a:solidFill>
                <a:srgbClr val="C00000"/>
              </a:solidFill>
            </a:endParaRPr>
          </a:p>
        </p:txBody>
      </p:sp>
      <p:sp>
        <p:nvSpPr>
          <p:cNvPr id="4" name="Text 2"/>
          <p:cNvSpPr/>
          <p:nvPr/>
        </p:nvSpPr>
        <p:spPr>
          <a:xfrm>
            <a:off x="571500" y="11658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23" name="Text 21"/>
          <p:cNvSpPr/>
          <p:nvPr/>
        </p:nvSpPr>
        <p:spPr>
          <a:xfrm>
            <a:off x="1143000" y="4526280"/>
            <a:ext cx="320040" cy="320040"/>
          </a:xfrm>
          <a:prstGeom prst="rect">
            <a:avLst/>
          </a:prstGeom>
          <a:noFill/>
          <a:ln/>
        </p:spPr>
        <p:txBody>
          <a:bodyPr wrap="square" lIns="0" tIns="0" rIns="0" bIns="0" rtlCol="0" anchor="ctr"/>
          <a:lstStyle/>
          <a:p>
            <a:pPr marL="0" indent="0" algn="ctr">
              <a:buNone/>
            </a:pPr>
            <a:r>
              <a:rPr lang="en-US" sz="900" b="1" dirty="0">
                <a:solidFill>
                  <a:srgbClr val="FFFFFF"/>
                </a:solidFill>
              </a:rPr>
              <a:t>2.5</a:t>
            </a:r>
            <a:endParaRPr lang="en-US" sz="900" dirty="0"/>
          </a:p>
        </p:txBody>
      </p:sp>
      <p:grpSp>
        <p:nvGrpSpPr>
          <p:cNvPr id="25" name="Group 24">
            <a:extLst>
              <a:ext uri="{FF2B5EF4-FFF2-40B4-BE49-F238E27FC236}">
                <a16:creationId xmlns:a16="http://schemas.microsoft.com/office/drawing/2014/main" id="{9388FFA3-22F1-C361-BC2A-1982321D0BF6}"/>
              </a:ext>
            </a:extLst>
          </p:cNvPr>
          <p:cNvGrpSpPr/>
          <p:nvPr/>
        </p:nvGrpSpPr>
        <p:grpSpPr>
          <a:xfrm>
            <a:off x="116126" y="12616"/>
            <a:ext cx="1083203" cy="863386"/>
            <a:chOff x="20532" y="55586"/>
            <a:chExt cx="1083203" cy="863386"/>
          </a:xfrm>
        </p:grpSpPr>
        <p:sp>
          <p:nvSpPr>
            <p:cNvPr id="26" name="Shape 1">
              <a:extLst>
                <a:ext uri="{FF2B5EF4-FFF2-40B4-BE49-F238E27FC236}">
                  <a16:creationId xmlns:a16="http://schemas.microsoft.com/office/drawing/2014/main" id="{9153DEBB-2BDE-B492-47CD-AC38BE7B53E1}"/>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7" name="Shape 2">
              <a:extLst>
                <a:ext uri="{FF2B5EF4-FFF2-40B4-BE49-F238E27FC236}">
                  <a16:creationId xmlns:a16="http://schemas.microsoft.com/office/drawing/2014/main" id="{D831DCD7-1E46-5A6C-5D04-98101D523DB6}"/>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grpSp>
        <p:nvGrpSpPr>
          <p:cNvPr id="28" name="Group 27">
            <a:extLst>
              <a:ext uri="{FF2B5EF4-FFF2-40B4-BE49-F238E27FC236}">
                <a16:creationId xmlns:a16="http://schemas.microsoft.com/office/drawing/2014/main" id="{72D50712-C515-DE4C-7536-B94A4A28D2E9}"/>
              </a:ext>
            </a:extLst>
          </p:cNvPr>
          <p:cNvGrpSpPr/>
          <p:nvPr/>
        </p:nvGrpSpPr>
        <p:grpSpPr>
          <a:xfrm>
            <a:off x="7712352" y="4221137"/>
            <a:ext cx="1083203" cy="863386"/>
            <a:chOff x="20532" y="55586"/>
            <a:chExt cx="1083203" cy="863386"/>
          </a:xfrm>
        </p:grpSpPr>
        <p:sp>
          <p:nvSpPr>
            <p:cNvPr id="29" name="Shape 1">
              <a:extLst>
                <a:ext uri="{FF2B5EF4-FFF2-40B4-BE49-F238E27FC236}">
                  <a16:creationId xmlns:a16="http://schemas.microsoft.com/office/drawing/2014/main" id="{FC309A94-0D12-002B-4B14-AAEAF43A1E8E}"/>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30" name="Shape 2">
              <a:extLst>
                <a:ext uri="{FF2B5EF4-FFF2-40B4-BE49-F238E27FC236}">
                  <a16:creationId xmlns:a16="http://schemas.microsoft.com/office/drawing/2014/main" id="{7BE16FD6-D1F4-E4EF-153A-7A9F3D18500D}"/>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32" name="TextBox 31">
            <a:extLst>
              <a:ext uri="{FF2B5EF4-FFF2-40B4-BE49-F238E27FC236}">
                <a16:creationId xmlns:a16="http://schemas.microsoft.com/office/drawing/2014/main" id="{C8253F1A-83B4-2BF9-CBA5-75B1DE6B9AB2}"/>
              </a:ext>
            </a:extLst>
          </p:cNvPr>
          <p:cNvSpPr txBox="1"/>
          <p:nvPr/>
        </p:nvSpPr>
        <p:spPr>
          <a:xfrm>
            <a:off x="147299" y="947932"/>
            <a:ext cx="8300762" cy="3970318"/>
          </a:xfrm>
          <a:prstGeom prst="rect">
            <a:avLst/>
          </a:prstGeom>
          <a:noFill/>
        </p:spPr>
        <p:txBody>
          <a:bodyPr wrap="square">
            <a:spAutoFit/>
          </a:bodyPr>
          <a:lstStyle/>
          <a:p>
            <a:r>
              <a:rPr lang="en-US" sz="2800" b="1" dirty="0"/>
              <a:t>Main Goals</a:t>
            </a:r>
          </a:p>
          <a:p>
            <a:pPr marL="457200" indent="-457200">
              <a:buFont typeface="+mj-lt"/>
              <a:buAutoNum type="arabicPeriod"/>
            </a:pPr>
            <a:r>
              <a:rPr lang="en-US" sz="2800" dirty="0"/>
              <a:t>Build an end-to-end NLP pipeline </a:t>
            </a:r>
          </a:p>
          <a:p>
            <a:pPr marL="457200" indent="-457200">
              <a:buFont typeface="+mj-lt"/>
              <a:buAutoNum type="arabicPeriod"/>
            </a:pPr>
            <a:r>
              <a:rPr lang="en-US" sz="2800" dirty="0"/>
              <a:t>Perform sentiment classification of tweets </a:t>
            </a:r>
          </a:p>
          <a:p>
            <a:pPr marL="457200" indent="-457200">
              <a:buFont typeface="+mj-lt"/>
              <a:buAutoNum type="arabicPeriod"/>
            </a:pPr>
            <a:r>
              <a:rPr lang="en-US" sz="2800" dirty="0"/>
              <a:t>Automatically discover topics in news articles </a:t>
            </a:r>
          </a:p>
          <a:p>
            <a:pPr marL="457200" indent="-457200">
              <a:buFont typeface="+mj-lt"/>
              <a:buAutoNum type="arabicPeriod"/>
            </a:pPr>
            <a:r>
              <a:rPr lang="en-US" sz="2800" dirty="0"/>
              <a:t>Evaluate models and interpret results </a:t>
            </a:r>
          </a:p>
          <a:p>
            <a:endParaRPr lang="en-US" sz="2800" dirty="0"/>
          </a:p>
          <a:p>
            <a:r>
              <a:rPr lang="en-US" sz="2800" dirty="0"/>
              <a:t>Two major tracks were implemented:</a:t>
            </a:r>
          </a:p>
          <a:p>
            <a:pPr marL="342900" indent="-342900">
              <a:buFont typeface="Wingdings" panose="05000000000000000000" pitchFamily="2" charset="2"/>
              <a:buChar char="v"/>
            </a:pPr>
            <a:r>
              <a:rPr lang="en-US" sz="2800" b="1" dirty="0"/>
              <a:t>Track 1:</a:t>
            </a:r>
            <a:r>
              <a:rPr lang="en-US" sz="2800" dirty="0"/>
              <a:t> Sentiment Analysis (Supervised Learning) </a:t>
            </a:r>
          </a:p>
          <a:p>
            <a:pPr marL="342900" indent="-342900">
              <a:buFont typeface="Wingdings" panose="05000000000000000000" pitchFamily="2" charset="2"/>
              <a:buChar char="v"/>
            </a:pPr>
            <a:r>
              <a:rPr lang="en-US" sz="2800" b="1" dirty="0"/>
              <a:t>Track 2:</a:t>
            </a:r>
            <a:r>
              <a:rPr lang="en-US" sz="2800" dirty="0"/>
              <a:t> Topic Clustering (Unsupervised Learning)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452372"/>
            <a:ext cx="8595360" cy="594360"/>
          </a:xfrm>
          <a:prstGeom prst="rect">
            <a:avLst/>
          </a:prstGeom>
          <a:noFill/>
          <a:ln/>
        </p:spPr>
        <p:txBody>
          <a:bodyPr wrap="square" rtlCol="0" anchor="ctr"/>
          <a:lstStyle/>
          <a:p>
            <a:pPr algn="ctr"/>
            <a:r>
              <a:rPr lang="en-US" sz="3200" b="1" dirty="0">
                <a:solidFill>
                  <a:srgbClr val="C00000"/>
                </a:solidFill>
                <a:latin typeface="Arial Black" panose="020B0A04020102020204" pitchFamily="34" charset="0"/>
              </a:rPr>
              <a:t>NLP Pipeline Overview</a:t>
            </a:r>
          </a:p>
        </p:txBody>
      </p:sp>
      <p:sp>
        <p:nvSpPr>
          <p:cNvPr id="5" name="Rectangle 2">
            <a:extLst>
              <a:ext uri="{FF2B5EF4-FFF2-40B4-BE49-F238E27FC236}">
                <a16:creationId xmlns:a16="http://schemas.microsoft.com/office/drawing/2014/main" id="{A93E3454-BD13-750E-C5B1-D72F97E0DD17}"/>
              </a:ext>
            </a:extLst>
          </p:cNvPr>
          <p:cNvSpPr>
            <a:spLocks noChangeArrowheads="1"/>
          </p:cNvSpPr>
          <p:nvPr/>
        </p:nvSpPr>
        <p:spPr bwMode="auto">
          <a:xfrm>
            <a:off x="303431" y="1253254"/>
            <a:ext cx="776824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t>The workflow followed a structured pipeline:</a:t>
            </a:r>
          </a:p>
          <a:p>
            <a:pPr marL="457200" indent="-457200">
              <a:buFont typeface="+mj-lt"/>
              <a:buAutoNum type="arabicPeriod"/>
            </a:pPr>
            <a:r>
              <a:rPr lang="en-US" sz="2800" dirty="0"/>
              <a:t>Data loading &amp; exploration </a:t>
            </a:r>
          </a:p>
          <a:p>
            <a:pPr marL="457200" indent="-457200">
              <a:buFont typeface="+mj-lt"/>
              <a:buAutoNum type="arabicPeriod"/>
            </a:pPr>
            <a:r>
              <a:rPr lang="en-US" sz="2800" dirty="0"/>
              <a:t>Text preprocessing &amp; cleaning </a:t>
            </a:r>
          </a:p>
          <a:p>
            <a:pPr marL="457200" indent="-457200">
              <a:buFont typeface="+mj-lt"/>
              <a:buAutoNum type="arabicPeriod"/>
            </a:pPr>
            <a:r>
              <a:rPr lang="en-US" sz="2800" dirty="0"/>
              <a:t>NLP exploration (word frequency &amp; bigrams) </a:t>
            </a:r>
          </a:p>
          <a:p>
            <a:pPr marL="457200" indent="-457200">
              <a:buFont typeface="+mj-lt"/>
              <a:buAutoNum type="arabicPeriod"/>
            </a:pPr>
            <a:r>
              <a:rPr lang="en-US" sz="2800" dirty="0"/>
              <a:t>Feature engineering using TF-IDF </a:t>
            </a:r>
          </a:p>
          <a:p>
            <a:pPr marL="457200" indent="-457200">
              <a:buFont typeface="+mj-lt"/>
              <a:buAutoNum type="arabicPeriod"/>
            </a:pPr>
            <a:r>
              <a:rPr lang="en-US" sz="2800" dirty="0"/>
              <a:t>Machine learning modelling </a:t>
            </a:r>
          </a:p>
          <a:p>
            <a:pPr marL="457200" indent="-457200">
              <a:buFont typeface="+mj-lt"/>
              <a:buAutoNum type="arabicPeriod"/>
            </a:pPr>
            <a:r>
              <a:rPr lang="en-US" sz="2800" dirty="0"/>
              <a:t>Clustering &amp; visualization </a:t>
            </a:r>
          </a:p>
          <a:p>
            <a:pPr marL="457200" indent="-457200">
              <a:buFont typeface="+mj-lt"/>
              <a:buAutoNum type="arabicPeriod"/>
            </a:pPr>
            <a:r>
              <a:rPr lang="en-US" sz="2800" dirty="0"/>
              <a:t>Evaluation and interpretation</a:t>
            </a:r>
          </a:p>
        </p:txBody>
      </p:sp>
      <p:grpSp>
        <p:nvGrpSpPr>
          <p:cNvPr id="3" name="Group 2">
            <a:extLst>
              <a:ext uri="{FF2B5EF4-FFF2-40B4-BE49-F238E27FC236}">
                <a16:creationId xmlns:a16="http://schemas.microsoft.com/office/drawing/2014/main" id="{000B41EF-1FEA-B358-562D-22DBB97BFE5A}"/>
              </a:ext>
            </a:extLst>
          </p:cNvPr>
          <p:cNvGrpSpPr/>
          <p:nvPr/>
        </p:nvGrpSpPr>
        <p:grpSpPr>
          <a:xfrm>
            <a:off x="172932" y="207986"/>
            <a:ext cx="1083203" cy="863386"/>
            <a:chOff x="20532" y="55586"/>
            <a:chExt cx="1083203" cy="863386"/>
          </a:xfrm>
        </p:grpSpPr>
        <p:sp>
          <p:nvSpPr>
            <p:cNvPr id="6" name="Shape 1">
              <a:extLst>
                <a:ext uri="{FF2B5EF4-FFF2-40B4-BE49-F238E27FC236}">
                  <a16:creationId xmlns:a16="http://schemas.microsoft.com/office/drawing/2014/main" id="{BE23E718-3016-EE51-E260-87417D6B0050}"/>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7" name="Shape 2">
              <a:extLst>
                <a:ext uri="{FF2B5EF4-FFF2-40B4-BE49-F238E27FC236}">
                  <a16:creationId xmlns:a16="http://schemas.microsoft.com/office/drawing/2014/main" id="{FFB197FF-2E6E-619E-E6BE-E7BC4F472F26}"/>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grpSp>
        <p:nvGrpSpPr>
          <p:cNvPr id="4" name="Group 3">
            <a:extLst>
              <a:ext uri="{FF2B5EF4-FFF2-40B4-BE49-F238E27FC236}">
                <a16:creationId xmlns:a16="http://schemas.microsoft.com/office/drawing/2014/main" id="{812533EF-43FB-D7DA-F6D9-B14C61FB2052}"/>
              </a:ext>
            </a:extLst>
          </p:cNvPr>
          <p:cNvGrpSpPr/>
          <p:nvPr/>
        </p:nvGrpSpPr>
        <p:grpSpPr>
          <a:xfrm>
            <a:off x="7183332" y="4132650"/>
            <a:ext cx="1083203" cy="863386"/>
            <a:chOff x="20532" y="55586"/>
            <a:chExt cx="1083203" cy="863386"/>
          </a:xfrm>
        </p:grpSpPr>
        <p:sp>
          <p:nvSpPr>
            <p:cNvPr id="8" name="Shape 1">
              <a:extLst>
                <a:ext uri="{FF2B5EF4-FFF2-40B4-BE49-F238E27FC236}">
                  <a16:creationId xmlns:a16="http://schemas.microsoft.com/office/drawing/2014/main" id="{D450A021-51E5-3DB0-8CC8-4D12CAAF3997}"/>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9" name="Shape 2">
              <a:extLst>
                <a:ext uri="{FF2B5EF4-FFF2-40B4-BE49-F238E27FC236}">
                  <a16:creationId xmlns:a16="http://schemas.microsoft.com/office/drawing/2014/main" id="{286B7D5F-AC7D-88A6-CA47-213D91D96EF6}"/>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74320" y="385574"/>
            <a:ext cx="8595360" cy="594360"/>
          </a:xfrm>
          <a:prstGeom prst="rect">
            <a:avLst/>
          </a:prstGeom>
          <a:noFill/>
          <a:ln/>
        </p:spPr>
        <p:txBody>
          <a:bodyPr wrap="square" rtlCol="0" anchor="ctr"/>
          <a:lstStyle/>
          <a:p>
            <a:pPr algn="ctr"/>
            <a:r>
              <a:rPr lang="en-US" sz="3200" b="1" dirty="0">
                <a:solidFill>
                  <a:srgbClr val="C00000"/>
                </a:solidFill>
                <a:latin typeface="Arial Black" panose="020B0A04020102020204" pitchFamily="34" charset="0"/>
              </a:rPr>
              <a:t>1. SENTIMENT ANALYSIS</a:t>
            </a:r>
          </a:p>
        </p:txBody>
      </p:sp>
      <p:grpSp>
        <p:nvGrpSpPr>
          <p:cNvPr id="9" name="Group 8">
            <a:extLst>
              <a:ext uri="{FF2B5EF4-FFF2-40B4-BE49-F238E27FC236}">
                <a16:creationId xmlns:a16="http://schemas.microsoft.com/office/drawing/2014/main" id="{51ABA361-43DC-E78F-F016-7D48E8463E81}"/>
              </a:ext>
            </a:extLst>
          </p:cNvPr>
          <p:cNvGrpSpPr/>
          <p:nvPr/>
        </p:nvGrpSpPr>
        <p:grpSpPr>
          <a:xfrm>
            <a:off x="49848" y="62044"/>
            <a:ext cx="1083203" cy="863386"/>
            <a:chOff x="20532" y="55586"/>
            <a:chExt cx="1083203" cy="863386"/>
          </a:xfrm>
        </p:grpSpPr>
        <p:sp>
          <p:nvSpPr>
            <p:cNvPr id="10" name="Shape 1">
              <a:extLst>
                <a:ext uri="{FF2B5EF4-FFF2-40B4-BE49-F238E27FC236}">
                  <a16:creationId xmlns:a16="http://schemas.microsoft.com/office/drawing/2014/main" id="{D97AC1D2-197F-BB34-F681-6E98476846B9}"/>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11" name="Shape 2">
              <a:extLst>
                <a:ext uri="{FF2B5EF4-FFF2-40B4-BE49-F238E27FC236}">
                  <a16:creationId xmlns:a16="http://schemas.microsoft.com/office/drawing/2014/main" id="{F1DD837C-FBFA-7D5A-D3CA-ADE0E935F907}"/>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13" name="TextBox 12">
            <a:extLst>
              <a:ext uri="{FF2B5EF4-FFF2-40B4-BE49-F238E27FC236}">
                <a16:creationId xmlns:a16="http://schemas.microsoft.com/office/drawing/2014/main" id="{7D055EB8-C9F1-5D2C-6692-C571824E3BB3}"/>
              </a:ext>
            </a:extLst>
          </p:cNvPr>
          <p:cNvSpPr txBox="1"/>
          <p:nvPr/>
        </p:nvSpPr>
        <p:spPr>
          <a:xfrm>
            <a:off x="114300" y="1180380"/>
            <a:ext cx="8595360" cy="3785652"/>
          </a:xfrm>
          <a:prstGeom prst="rect">
            <a:avLst/>
          </a:prstGeom>
          <a:noFill/>
        </p:spPr>
        <p:txBody>
          <a:bodyPr wrap="square">
            <a:spAutoFit/>
          </a:bodyPr>
          <a:lstStyle/>
          <a:p>
            <a:pPr>
              <a:buNone/>
            </a:pPr>
            <a:r>
              <a:rPr lang="en-US" sz="2400" b="1" dirty="0"/>
              <a:t>Dataset Understanding</a:t>
            </a:r>
          </a:p>
          <a:p>
            <a:pPr>
              <a:buNone/>
            </a:pPr>
            <a:r>
              <a:rPr lang="en-US" sz="2400" dirty="0"/>
              <a:t>Dataset used: </a:t>
            </a:r>
            <a:r>
              <a:rPr lang="en-US" sz="2400" b="1" dirty="0"/>
              <a:t>Sentiment140 Tweets</a:t>
            </a:r>
          </a:p>
          <a:p>
            <a:pPr>
              <a:buNone/>
            </a:pPr>
            <a:endParaRPr lang="en-US" sz="2400" dirty="0"/>
          </a:p>
          <a:p>
            <a:pPr>
              <a:buNone/>
            </a:pPr>
            <a:r>
              <a:rPr lang="en-US" sz="2400" b="1" dirty="0"/>
              <a:t>Key tasks performed:</a:t>
            </a:r>
          </a:p>
          <a:p>
            <a:pPr marL="457200" indent="-457200">
              <a:buFont typeface="Wingdings" panose="05000000000000000000" pitchFamily="2" charset="2"/>
              <a:buChar char="v"/>
            </a:pPr>
            <a:r>
              <a:rPr lang="en-US" sz="2400" dirty="0"/>
              <a:t>Loaded dataset using pandas </a:t>
            </a:r>
          </a:p>
          <a:p>
            <a:pPr marL="457200" indent="-457200">
              <a:buFont typeface="Wingdings" panose="05000000000000000000" pitchFamily="2" charset="2"/>
              <a:buChar char="v"/>
            </a:pPr>
            <a:r>
              <a:rPr lang="en-US" sz="2400" dirty="0"/>
              <a:t>Identified key columns (tweet text &amp; sentiment) </a:t>
            </a:r>
          </a:p>
          <a:p>
            <a:pPr marL="457200" indent="-457200">
              <a:buFont typeface="Wingdings" panose="05000000000000000000" pitchFamily="2" charset="2"/>
              <a:buChar char="v"/>
            </a:pPr>
            <a:r>
              <a:rPr lang="en-US" sz="2400" dirty="0"/>
              <a:t>Computed dataset statistics </a:t>
            </a:r>
          </a:p>
          <a:p>
            <a:pPr>
              <a:buNone/>
            </a:pPr>
            <a:r>
              <a:rPr lang="en-US" sz="2400" b="1" dirty="0"/>
              <a:t>Observation:</a:t>
            </a:r>
            <a:br>
              <a:rPr lang="en-US" sz="2400" dirty="0"/>
            </a:br>
            <a:r>
              <a:rPr lang="en-US" sz="2400" dirty="0"/>
              <a:t>Tweets are short, informal and contain noise such as URLs and hashtags.</a:t>
            </a:r>
          </a:p>
        </p:txBody>
      </p:sp>
      <p:grpSp>
        <p:nvGrpSpPr>
          <p:cNvPr id="17" name="Group 16">
            <a:extLst>
              <a:ext uri="{FF2B5EF4-FFF2-40B4-BE49-F238E27FC236}">
                <a16:creationId xmlns:a16="http://schemas.microsoft.com/office/drawing/2014/main" id="{EFF47DF6-992C-E317-394D-4B07498D7F01}"/>
              </a:ext>
            </a:extLst>
          </p:cNvPr>
          <p:cNvGrpSpPr/>
          <p:nvPr/>
        </p:nvGrpSpPr>
        <p:grpSpPr>
          <a:xfrm>
            <a:off x="7511242" y="1520190"/>
            <a:ext cx="1005840" cy="2103120"/>
            <a:chOff x="8138160" y="0"/>
            <a:chExt cx="1005840" cy="2103120"/>
          </a:xfrm>
        </p:grpSpPr>
        <p:sp>
          <p:nvSpPr>
            <p:cNvPr id="18" name="Shape 5">
              <a:extLst>
                <a:ext uri="{FF2B5EF4-FFF2-40B4-BE49-F238E27FC236}">
                  <a16:creationId xmlns:a16="http://schemas.microsoft.com/office/drawing/2014/main" id="{160332FE-D39F-6300-065B-74FB53EFA94E}"/>
                </a:ext>
              </a:extLst>
            </p:cNvPr>
            <p:cNvSpPr/>
            <p:nvPr/>
          </p:nvSpPr>
          <p:spPr>
            <a:xfrm>
              <a:off x="8229600" y="0"/>
              <a:ext cx="914400" cy="914400"/>
            </a:xfrm>
            <a:prstGeom prst="ellipse">
              <a:avLst/>
            </a:prstGeom>
            <a:solidFill>
              <a:srgbClr val="F48C06">
                <a:alpha val="30000"/>
              </a:srgbClr>
            </a:solidFill>
            <a:ln w="12700">
              <a:solidFill>
                <a:srgbClr val="F48C06"/>
              </a:solidFill>
              <a:prstDash val="solid"/>
            </a:ln>
          </p:spPr>
        </p:sp>
        <p:sp>
          <p:nvSpPr>
            <p:cNvPr id="19" name="Shape 6">
              <a:extLst>
                <a:ext uri="{FF2B5EF4-FFF2-40B4-BE49-F238E27FC236}">
                  <a16:creationId xmlns:a16="http://schemas.microsoft.com/office/drawing/2014/main" id="{934C8A5C-D798-C546-A860-A51A7A5D6860}"/>
                </a:ext>
              </a:extLst>
            </p:cNvPr>
            <p:cNvSpPr/>
            <p:nvPr/>
          </p:nvSpPr>
          <p:spPr>
            <a:xfrm>
              <a:off x="8138160" y="1554480"/>
              <a:ext cx="548640" cy="548640"/>
            </a:xfrm>
            <a:prstGeom prst="ellipse">
              <a:avLst/>
            </a:prstGeom>
            <a:solidFill>
              <a:srgbClr val="D62828">
                <a:alpha val="30000"/>
              </a:srgbClr>
            </a:solidFill>
            <a:ln w="12700">
              <a:solidFill>
                <a:srgbClr val="D62828"/>
              </a:solidFill>
              <a:prstDash val="solid"/>
            </a:ln>
          </p:spPr>
          <p:txBody>
            <a:bodyP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27146"/>
            <a:ext cx="8595360" cy="1018842"/>
          </a:xfrm>
          <a:prstGeom prst="rect">
            <a:avLst/>
          </a:prstGeom>
          <a:noFill/>
          <a:ln/>
        </p:spPr>
        <p:txBody>
          <a:bodyPr wrap="square" rtlCol="0" anchor="ctr"/>
          <a:lstStyle/>
          <a:p>
            <a:pPr algn="ctr"/>
            <a:r>
              <a:rPr lang="en-US" sz="3600" b="1" dirty="0">
                <a:solidFill>
                  <a:srgbClr val="C00000"/>
                </a:solidFill>
                <a:latin typeface="Arial Black" panose="020B0A04020102020204" pitchFamily="34" charset="0"/>
              </a:rPr>
              <a:t>Tweet Length Distribution</a:t>
            </a:r>
          </a:p>
          <a:p>
            <a:pPr marL="0" indent="0" algn="ctr">
              <a:buNone/>
            </a:pPr>
            <a:endParaRPr lang="en-US" sz="3600" dirty="0">
              <a:solidFill>
                <a:srgbClr val="C00000"/>
              </a:solidFill>
              <a:latin typeface="Arial Black" panose="020B0A04020102020204" pitchFamily="34" charset="0"/>
            </a:endParaRPr>
          </a:p>
        </p:txBody>
      </p:sp>
      <p:sp>
        <p:nvSpPr>
          <p:cNvPr id="4" name="Text 2"/>
          <p:cNvSpPr/>
          <p:nvPr/>
        </p:nvSpPr>
        <p:spPr>
          <a:xfrm>
            <a:off x="457200" y="1005840"/>
            <a:ext cx="1783080" cy="384048"/>
          </a:xfrm>
          <a:prstGeom prst="rect">
            <a:avLst/>
          </a:prstGeom>
          <a:noFill/>
          <a:ln/>
        </p:spPr>
        <p:txBody>
          <a:bodyPr wrap="square" lIns="0" tIns="0" rIns="0" bIns="0" rtlCol="0" anchor="ctr"/>
          <a:lstStyle/>
          <a:p>
            <a:pPr marL="0" indent="0" algn="ctr">
              <a:buNone/>
            </a:pPr>
            <a:r>
              <a:rPr lang="en-US" sz="1200" b="1" dirty="0">
                <a:solidFill>
                  <a:srgbClr val="FFFFFF"/>
                </a:solidFill>
              </a:rPr>
              <a:t>Python / Flask</a:t>
            </a:r>
            <a:endParaRPr lang="en-US" sz="1200" dirty="0"/>
          </a:p>
        </p:txBody>
      </p:sp>
      <p:grpSp>
        <p:nvGrpSpPr>
          <p:cNvPr id="21" name="Group 20">
            <a:extLst>
              <a:ext uri="{FF2B5EF4-FFF2-40B4-BE49-F238E27FC236}">
                <a16:creationId xmlns:a16="http://schemas.microsoft.com/office/drawing/2014/main" id="{4BE302C0-7A16-E4D0-00A2-659409BAF938}"/>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92B1C8AD-D213-CCE4-FC51-7FF746D9F152}"/>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376ECD86-493A-4423-77BF-305DA61D2096}"/>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25" name="TextBox 24">
            <a:extLst>
              <a:ext uri="{FF2B5EF4-FFF2-40B4-BE49-F238E27FC236}">
                <a16:creationId xmlns:a16="http://schemas.microsoft.com/office/drawing/2014/main" id="{CD21591C-C89A-C4E7-3FBB-C20A8AAF90FE}"/>
              </a:ext>
            </a:extLst>
          </p:cNvPr>
          <p:cNvSpPr txBox="1"/>
          <p:nvPr/>
        </p:nvSpPr>
        <p:spPr>
          <a:xfrm>
            <a:off x="0" y="3531418"/>
            <a:ext cx="9144000" cy="1631216"/>
          </a:xfrm>
          <a:prstGeom prst="rect">
            <a:avLst/>
          </a:prstGeom>
          <a:noFill/>
        </p:spPr>
        <p:txBody>
          <a:bodyPr wrap="square">
            <a:spAutoFit/>
          </a:bodyPr>
          <a:lstStyle/>
          <a:p>
            <a:pPr>
              <a:buNone/>
            </a:pPr>
            <a:r>
              <a:rPr lang="en-US" sz="2800" b="1" dirty="0"/>
              <a:t>Interpretation</a:t>
            </a:r>
            <a:endParaRPr lang="en-US" sz="2800" dirty="0"/>
          </a:p>
          <a:p>
            <a:pPr>
              <a:buFont typeface="Arial" panose="020B0604020202020204" pitchFamily="34" charset="0"/>
              <a:buChar char="•"/>
            </a:pPr>
            <a:r>
              <a:rPr lang="en-US" sz="2400" dirty="0"/>
              <a:t>Majority of tweets are short texts </a:t>
            </a:r>
          </a:p>
          <a:p>
            <a:pPr>
              <a:buFont typeface="Arial" panose="020B0604020202020204" pitchFamily="34" charset="0"/>
              <a:buChar char="•"/>
            </a:pPr>
            <a:r>
              <a:rPr lang="en-US" sz="2400" dirty="0"/>
              <a:t>Short texts require strong preprocessing and feature engineering </a:t>
            </a:r>
          </a:p>
          <a:p>
            <a:pPr>
              <a:buFont typeface="Arial" panose="020B0604020202020204" pitchFamily="34" charset="0"/>
              <a:buChar char="•"/>
            </a:pPr>
            <a:r>
              <a:rPr lang="en-US" sz="2400" dirty="0"/>
              <a:t>Highlights challenges of social media NLP.</a:t>
            </a:r>
          </a:p>
        </p:txBody>
      </p:sp>
      <p:pic>
        <p:nvPicPr>
          <p:cNvPr id="27" name="Picture 26" descr="Sentiment_Visual_2_Tweet_Lengths.png"/>
          <p:cNvPicPr>
            <a:picLocks noChangeAspect="1"/>
          </p:cNvPicPr>
          <p:nvPr/>
        </p:nvPicPr>
        <p:blipFill>
          <a:blip r:embed="rId3"/>
          <a:stretch>
            <a:fillRect/>
          </a:stretch>
        </p:blipFill>
        <p:spPr>
          <a:xfrm>
            <a:off x="2331720" y="1005840"/>
            <a:ext cx="5077169" cy="29616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BB5813F-A3C3-9117-4571-45A47F820E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6CC68F-1197-69F6-300D-752003F6E8F0}"/>
              </a:ext>
            </a:extLst>
          </p:cNvPr>
          <p:cNvSpPr/>
          <p:nvPr/>
        </p:nvSpPr>
        <p:spPr>
          <a:xfrm>
            <a:off x="250043" y="1076918"/>
            <a:ext cx="8595360" cy="4227463"/>
          </a:xfrm>
          <a:prstGeom prst="rect">
            <a:avLst/>
          </a:prstGeom>
          <a:noFill/>
          <a:ln/>
        </p:spPr>
        <p:txBody>
          <a:bodyPr wrap="square" rtlCol="0" anchor="ctr"/>
          <a:lstStyle/>
          <a:p>
            <a:r>
              <a:rPr lang="en-US" sz="2400" b="1" dirty="0"/>
              <a:t>Noise identified in tweets:</a:t>
            </a:r>
          </a:p>
          <a:p>
            <a:pPr marL="342900" indent="-342900">
              <a:buFont typeface="Wingdings" panose="05000000000000000000" pitchFamily="2" charset="2"/>
              <a:buChar char="v"/>
            </a:pPr>
            <a:r>
              <a:rPr lang="en-US" sz="2400" dirty="0"/>
              <a:t>URLs and mentions </a:t>
            </a:r>
          </a:p>
          <a:p>
            <a:pPr marL="342900" indent="-342900">
              <a:buFont typeface="Wingdings" panose="05000000000000000000" pitchFamily="2" charset="2"/>
              <a:buChar char="v"/>
            </a:pPr>
            <a:r>
              <a:rPr lang="en-US" sz="2400" dirty="0"/>
              <a:t>Hashtags and punctuation </a:t>
            </a:r>
          </a:p>
          <a:p>
            <a:pPr marL="342900" indent="-342900">
              <a:buFont typeface="Wingdings" panose="05000000000000000000" pitchFamily="2" charset="2"/>
              <a:buChar char="v"/>
            </a:pPr>
            <a:r>
              <a:rPr lang="en-US" sz="2400" dirty="0" err="1"/>
              <a:t>Stopwords</a:t>
            </a:r>
            <a:r>
              <a:rPr lang="en-US" sz="2400" dirty="0"/>
              <a:t> and informal expressions </a:t>
            </a:r>
          </a:p>
          <a:p>
            <a:endParaRPr lang="en-US" sz="2400" dirty="0"/>
          </a:p>
          <a:p>
            <a:r>
              <a:rPr lang="en-US" sz="2400" b="1" dirty="0"/>
              <a:t>Cleaning techniques used:</a:t>
            </a:r>
          </a:p>
          <a:p>
            <a:pPr marL="342900" indent="-342900">
              <a:buFont typeface="Wingdings" panose="05000000000000000000" pitchFamily="2" charset="2"/>
              <a:buChar char="§"/>
            </a:pPr>
            <a:r>
              <a:rPr lang="en-US" sz="2400" dirty="0"/>
              <a:t>Regex cleaning </a:t>
            </a:r>
          </a:p>
          <a:p>
            <a:pPr marL="342900" indent="-342900">
              <a:buFont typeface="Wingdings" panose="05000000000000000000" pitchFamily="2" charset="2"/>
              <a:buChar char="§"/>
            </a:pPr>
            <a:r>
              <a:rPr lang="en-US" sz="2400" dirty="0"/>
              <a:t>Tokenization (NLTK) </a:t>
            </a:r>
          </a:p>
          <a:p>
            <a:pPr marL="342900" indent="-342900">
              <a:buFont typeface="Wingdings" panose="05000000000000000000" pitchFamily="2" charset="2"/>
              <a:buChar char="§"/>
            </a:pPr>
            <a:r>
              <a:rPr lang="en-US" sz="2400" dirty="0" err="1"/>
              <a:t>Stopword</a:t>
            </a:r>
            <a:r>
              <a:rPr lang="en-US" sz="2400" dirty="0"/>
              <a:t> removal </a:t>
            </a:r>
          </a:p>
          <a:p>
            <a:pPr marL="342900" indent="-342900">
              <a:buFont typeface="Wingdings" panose="05000000000000000000" pitchFamily="2" charset="2"/>
              <a:buChar char="§"/>
            </a:pPr>
            <a:r>
              <a:rPr lang="en-US" sz="2400" dirty="0"/>
              <a:t>Lemmatization </a:t>
            </a:r>
          </a:p>
          <a:p>
            <a:r>
              <a:rPr lang="en-US" sz="2400" dirty="0"/>
              <a:t>Result → Clean, normalized text ready for modelling.</a:t>
            </a:r>
          </a:p>
          <a:p>
            <a:pPr marL="0" indent="0" algn="ctr">
              <a:buNone/>
            </a:pPr>
            <a:endParaRPr lang="en-US" sz="2000" dirty="0">
              <a:solidFill>
                <a:srgbClr val="C00000"/>
              </a:solidFill>
              <a:latin typeface="Arial Black" panose="020B0A04020102020204" pitchFamily="34" charset="0"/>
            </a:endParaRPr>
          </a:p>
        </p:txBody>
      </p:sp>
      <p:grpSp>
        <p:nvGrpSpPr>
          <p:cNvPr id="21" name="Group 20">
            <a:extLst>
              <a:ext uri="{FF2B5EF4-FFF2-40B4-BE49-F238E27FC236}">
                <a16:creationId xmlns:a16="http://schemas.microsoft.com/office/drawing/2014/main" id="{67D5EBEB-92DA-6998-5AC6-8BD6418D5426}"/>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88B554AE-F8E0-01FD-F5E0-EFEE6BDC9EFB}"/>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A76C7A69-EB5E-5F99-45FC-D3CF12B92F5E}"/>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5" name="TextBox 4">
            <a:extLst>
              <a:ext uri="{FF2B5EF4-FFF2-40B4-BE49-F238E27FC236}">
                <a16:creationId xmlns:a16="http://schemas.microsoft.com/office/drawing/2014/main" id="{ABB79AEA-48D8-AF87-8061-8E098D13F1F5}"/>
              </a:ext>
            </a:extLst>
          </p:cNvPr>
          <p:cNvSpPr txBox="1"/>
          <p:nvPr/>
        </p:nvSpPr>
        <p:spPr>
          <a:xfrm>
            <a:off x="1854679" y="208880"/>
            <a:ext cx="4572000" cy="584775"/>
          </a:xfrm>
          <a:prstGeom prst="rect">
            <a:avLst/>
          </a:prstGeom>
          <a:noFill/>
        </p:spPr>
        <p:txBody>
          <a:bodyPr wrap="square">
            <a:spAutoFit/>
          </a:bodyPr>
          <a:lstStyle/>
          <a:p>
            <a:pPr algn="ctr"/>
            <a:r>
              <a:rPr lang="en-US" sz="3200" b="1" dirty="0">
                <a:solidFill>
                  <a:srgbClr val="C00000"/>
                </a:solidFill>
                <a:latin typeface="Arial Black" panose="020B0A04020102020204" pitchFamily="34" charset="0"/>
              </a:rPr>
              <a:t>Text Preprocessing</a:t>
            </a:r>
          </a:p>
        </p:txBody>
      </p:sp>
      <p:grpSp>
        <p:nvGrpSpPr>
          <p:cNvPr id="6" name="Group 5">
            <a:extLst>
              <a:ext uri="{FF2B5EF4-FFF2-40B4-BE49-F238E27FC236}">
                <a16:creationId xmlns:a16="http://schemas.microsoft.com/office/drawing/2014/main" id="{79A10FEC-1A11-2805-40DC-6513A69422F2}"/>
              </a:ext>
            </a:extLst>
          </p:cNvPr>
          <p:cNvGrpSpPr/>
          <p:nvPr/>
        </p:nvGrpSpPr>
        <p:grpSpPr>
          <a:xfrm>
            <a:off x="7532024" y="1203960"/>
            <a:ext cx="1005840" cy="2103120"/>
            <a:chOff x="8138160" y="0"/>
            <a:chExt cx="1005840" cy="2103120"/>
          </a:xfrm>
        </p:grpSpPr>
        <p:sp>
          <p:nvSpPr>
            <p:cNvPr id="7" name="Shape 5">
              <a:extLst>
                <a:ext uri="{FF2B5EF4-FFF2-40B4-BE49-F238E27FC236}">
                  <a16:creationId xmlns:a16="http://schemas.microsoft.com/office/drawing/2014/main" id="{A64E8C05-C9BC-9672-2533-9D9ACEF59AAE}"/>
                </a:ext>
              </a:extLst>
            </p:cNvPr>
            <p:cNvSpPr/>
            <p:nvPr/>
          </p:nvSpPr>
          <p:spPr>
            <a:xfrm>
              <a:off x="8229600" y="0"/>
              <a:ext cx="914400" cy="914400"/>
            </a:xfrm>
            <a:prstGeom prst="ellipse">
              <a:avLst/>
            </a:prstGeom>
            <a:solidFill>
              <a:srgbClr val="F48C06">
                <a:alpha val="30000"/>
              </a:srgbClr>
            </a:solidFill>
            <a:ln w="12700">
              <a:solidFill>
                <a:srgbClr val="F48C06"/>
              </a:solidFill>
              <a:prstDash val="solid"/>
            </a:ln>
          </p:spPr>
          <p:txBody>
            <a:bodyPr/>
            <a:lstStyle/>
            <a:p>
              <a:endParaRPr lang="en-US"/>
            </a:p>
          </p:txBody>
        </p:sp>
        <p:sp>
          <p:nvSpPr>
            <p:cNvPr id="8" name="Shape 6">
              <a:extLst>
                <a:ext uri="{FF2B5EF4-FFF2-40B4-BE49-F238E27FC236}">
                  <a16:creationId xmlns:a16="http://schemas.microsoft.com/office/drawing/2014/main" id="{A0786036-3C68-3457-563E-6FE14806879F}"/>
                </a:ext>
              </a:extLst>
            </p:cNvPr>
            <p:cNvSpPr/>
            <p:nvPr/>
          </p:nvSpPr>
          <p:spPr>
            <a:xfrm>
              <a:off x="8138160" y="1554480"/>
              <a:ext cx="548640" cy="548640"/>
            </a:xfrm>
            <a:prstGeom prst="ellipse">
              <a:avLst/>
            </a:prstGeom>
            <a:solidFill>
              <a:srgbClr val="D62828">
                <a:alpha val="30000"/>
              </a:srgbClr>
            </a:solidFill>
            <a:ln w="12700">
              <a:solidFill>
                <a:srgbClr val="D62828"/>
              </a:solidFill>
              <a:prstDash val="solid"/>
            </a:ln>
          </p:spPr>
          <p:txBody>
            <a:bodyPr/>
            <a:lstStyle/>
            <a:p>
              <a:endParaRPr lang="en-US"/>
            </a:p>
          </p:txBody>
        </p:sp>
      </p:grpSp>
    </p:spTree>
    <p:extLst>
      <p:ext uri="{BB962C8B-B14F-4D97-AF65-F5344CB8AC3E}">
        <p14:creationId xmlns:p14="http://schemas.microsoft.com/office/powerpoint/2010/main" val="2794682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D25A05-BBE4-FF33-9848-06232C148B2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E42C3FA-D5A2-977E-DFAA-58914E01E0C3}"/>
              </a:ext>
            </a:extLst>
          </p:cNvPr>
          <p:cNvSpPr/>
          <p:nvPr/>
        </p:nvSpPr>
        <p:spPr>
          <a:xfrm>
            <a:off x="83208" y="4023427"/>
            <a:ext cx="8977584" cy="1077218"/>
          </a:xfrm>
          <a:prstGeom prst="rect">
            <a:avLst/>
          </a:prstGeom>
          <a:noFill/>
          <a:ln/>
        </p:spPr>
        <p:txBody>
          <a:bodyPr wrap="square" rtlCol="0" anchor="ctr"/>
          <a:lstStyle/>
          <a:p>
            <a:r>
              <a:rPr lang="en-US" dirty="0"/>
              <a:t>The frequent words chart displays the most common terms after cleaning, revealing dominant themes within the dataset. It also confirms that preprocessing successfully removed irrelevant words, leaving only meaningful vocabulary for analysis.</a:t>
            </a:r>
          </a:p>
        </p:txBody>
      </p:sp>
      <p:grpSp>
        <p:nvGrpSpPr>
          <p:cNvPr id="21" name="Group 20">
            <a:extLst>
              <a:ext uri="{FF2B5EF4-FFF2-40B4-BE49-F238E27FC236}">
                <a16:creationId xmlns:a16="http://schemas.microsoft.com/office/drawing/2014/main" id="{054BBFAD-0FC2-9462-C1EA-1AD8C2B8A7DF}"/>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48D67348-DB9E-FCCF-670E-117CADF420EF}"/>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5C806EA7-7A09-6D07-9E91-9571DF833142}"/>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5" name="TextBox 4">
            <a:extLst>
              <a:ext uri="{FF2B5EF4-FFF2-40B4-BE49-F238E27FC236}">
                <a16:creationId xmlns:a16="http://schemas.microsoft.com/office/drawing/2014/main" id="{EA045B51-B3A8-076D-764F-38A24D684B1D}"/>
              </a:ext>
            </a:extLst>
          </p:cNvPr>
          <p:cNvSpPr txBox="1"/>
          <p:nvPr/>
        </p:nvSpPr>
        <p:spPr>
          <a:xfrm>
            <a:off x="1475838" y="265580"/>
            <a:ext cx="4855951" cy="1077218"/>
          </a:xfrm>
          <a:prstGeom prst="rect">
            <a:avLst/>
          </a:prstGeom>
          <a:noFill/>
        </p:spPr>
        <p:txBody>
          <a:bodyPr wrap="square">
            <a:spAutoFit/>
          </a:bodyPr>
          <a:lstStyle/>
          <a:p>
            <a:pPr algn="ctr"/>
            <a:r>
              <a:rPr lang="en-US" sz="3200" b="1" dirty="0">
                <a:solidFill>
                  <a:srgbClr val="C00000"/>
                </a:solidFill>
                <a:latin typeface="Arial Black" panose="020B0A04020102020204" pitchFamily="34" charset="0"/>
              </a:rPr>
              <a:t>Word Analysis</a:t>
            </a:r>
          </a:p>
          <a:p>
            <a:pPr algn="ctr"/>
            <a:endParaRPr lang="en-US" sz="3200" b="1" dirty="0">
              <a:solidFill>
                <a:srgbClr val="C00000"/>
              </a:solidFill>
              <a:latin typeface="Arial Black" panose="020B0A04020102020204" pitchFamily="34" charset="0"/>
            </a:endParaRPr>
          </a:p>
        </p:txBody>
      </p:sp>
      <p:sp>
        <p:nvSpPr>
          <p:cNvPr id="4" name="TextBox 3">
            <a:extLst>
              <a:ext uri="{FF2B5EF4-FFF2-40B4-BE49-F238E27FC236}">
                <a16:creationId xmlns:a16="http://schemas.microsoft.com/office/drawing/2014/main" id="{15759750-1398-1BD4-EDAF-0A2EEB5CEB74}"/>
              </a:ext>
            </a:extLst>
          </p:cNvPr>
          <p:cNvSpPr txBox="1"/>
          <p:nvPr/>
        </p:nvSpPr>
        <p:spPr>
          <a:xfrm>
            <a:off x="5550448" y="913627"/>
            <a:ext cx="2775734" cy="400110"/>
          </a:xfrm>
          <a:prstGeom prst="rect">
            <a:avLst/>
          </a:prstGeom>
          <a:noFill/>
        </p:spPr>
        <p:txBody>
          <a:bodyPr wrap="square">
            <a:spAutoFit/>
          </a:bodyPr>
          <a:lstStyle/>
          <a:p>
            <a:r>
              <a:rPr lang="en-US" sz="2000" b="1" dirty="0"/>
              <a:t>Frequent Words Chart</a:t>
            </a:r>
            <a:endParaRPr lang="en-US" sz="2000" dirty="0"/>
          </a:p>
        </p:txBody>
      </p:sp>
      <p:pic>
        <p:nvPicPr>
          <p:cNvPr id="8" name="Picture 7">
            <a:extLst>
              <a:ext uri="{FF2B5EF4-FFF2-40B4-BE49-F238E27FC236}">
                <a16:creationId xmlns:a16="http://schemas.microsoft.com/office/drawing/2014/main" id="{D159B25F-6BBE-E3B9-2CC2-1DF4AD05FCC2}"/>
              </a:ext>
            </a:extLst>
          </p:cNvPr>
          <p:cNvPicPr>
            <a:picLocks noChangeAspect="1"/>
          </p:cNvPicPr>
          <p:nvPr/>
        </p:nvPicPr>
        <p:blipFill>
          <a:blip r:embed="rId3"/>
          <a:stretch>
            <a:fillRect/>
          </a:stretch>
        </p:blipFill>
        <p:spPr>
          <a:xfrm>
            <a:off x="166416" y="1439963"/>
            <a:ext cx="4246717" cy="2360740"/>
          </a:xfrm>
          <a:prstGeom prst="rect">
            <a:avLst/>
          </a:prstGeom>
        </p:spPr>
      </p:pic>
      <p:pic>
        <p:nvPicPr>
          <p:cNvPr id="6" name="Picture 5">
            <a:extLst>
              <a:ext uri="{FF2B5EF4-FFF2-40B4-BE49-F238E27FC236}">
                <a16:creationId xmlns:a16="http://schemas.microsoft.com/office/drawing/2014/main" id="{41912D05-4752-8F5E-6026-F417BE197F95}"/>
              </a:ext>
            </a:extLst>
          </p:cNvPr>
          <p:cNvPicPr>
            <a:picLocks noChangeAspect="1"/>
          </p:cNvPicPr>
          <p:nvPr/>
        </p:nvPicPr>
        <p:blipFill>
          <a:blip r:embed="rId4"/>
          <a:stretch>
            <a:fillRect/>
          </a:stretch>
        </p:blipFill>
        <p:spPr>
          <a:xfrm>
            <a:off x="4572000" y="1411768"/>
            <a:ext cx="4362639" cy="2571750"/>
          </a:xfrm>
          <a:prstGeom prst="rect">
            <a:avLst/>
          </a:prstGeom>
        </p:spPr>
      </p:pic>
    </p:spTree>
    <p:extLst>
      <p:ext uri="{BB962C8B-B14F-4D97-AF65-F5344CB8AC3E}">
        <p14:creationId xmlns:p14="http://schemas.microsoft.com/office/powerpoint/2010/main" val="270314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F44F86-B927-79D6-FDA9-F02DAE8559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278C3D-7C87-0C7A-2CB0-1C47F06B240F}"/>
              </a:ext>
            </a:extLst>
          </p:cNvPr>
          <p:cNvSpPr/>
          <p:nvPr/>
        </p:nvSpPr>
        <p:spPr>
          <a:xfrm>
            <a:off x="0" y="4004828"/>
            <a:ext cx="9144000" cy="1381391"/>
          </a:xfrm>
          <a:prstGeom prst="rect">
            <a:avLst/>
          </a:prstGeom>
          <a:noFill/>
          <a:ln/>
        </p:spPr>
        <p:txBody>
          <a:bodyPr wrap="square" rtlCol="0" anchor="ctr"/>
          <a:lstStyle/>
          <a:p>
            <a:r>
              <a:rPr lang="en-US" dirty="0"/>
              <a:t>The bigram analysis presents the most common word pairs, capturing context better than single words. This is important for sentiment analysis, as meaning is often conveyed through phrases rather than individual terms.</a:t>
            </a:r>
          </a:p>
        </p:txBody>
      </p:sp>
      <p:grpSp>
        <p:nvGrpSpPr>
          <p:cNvPr id="21" name="Group 20">
            <a:extLst>
              <a:ext uri="{FF2B5EF4-FFF2-40B4-BE49-F238E27FC236}">
                <a16:creationId xmlns:a16="http://schemas.microsoft.com/office/drawing/2014/main" id="{23340555-A55A-7AB2-7492-2E7302BDB9E2}"/>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CCF4BBB1-484E-27B6-2EC6-2B67B67E6F78}"/>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43513302-F320-EE22-355D-6B10201265E5}"/>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5" name="TextBox 4">
            <a:extLst>
              <a:ext uri="{FF2B5EF4-FFF2-40B4-BE49-F238E27FC236}">
                <a16:creationId xmlns:a16="http://schemas.microsoft.com/office/drawing/2014/main" id="{9BABEF14-4268-EC58-6231-800BE890F4A6}"/>
              </a:ext>
            </a:extLst>
          </p:cNvPr>
          <p:cNvSpPr txBox="1"/>
          <p:nvPr/>
        </p:nvSpPr>
        <p:spPr>
          <a:xfrm>
            <a:off x="1712761" y="240879"/>
            <a:ext cx="5874589" cy="1077218"/>
          </a:xfrm>
          <a:prstGeom prst="rect">
            <a:avLst/>
          </a:prstGeom>
          <a:noFill/>
        </p:spPr>
        <p:txBody>
          <a:bodyPr wrap="square">
            <a:spAutoFit/>
          </a:bodyPr>
          <a:lstStyle/>
          <a:p>
            <a:pPr algn="ctr"/>
            <a:r>
              <a:rPr lang="en-US" sz="3200" b="1" dirty="0">
                <a:solidFill>
                  <a:srgbClr val="C00000"/>
                </a:solidFill>
                <a:latin typeface="Arial Black" panose="020B0A04020102020204" pitchFamily="34" charset="0"/>
              </a:rPr>
              <a:t>Bigram Analysis</a:t>
            </a:r>
          </a:p>
          <a:p>
            <a:pPr algn="ctr"/>
            <a:endParaRPr lang="en-US" sz="3200" b="1" dirty="0">
              <a:solidFill>
                <a:srgbClr val="C00000"/>
              </a:solidFill>
              <a:latin typeface="Arial Black" panose="020B0A04020102020204" pitchFamily="34" charset="0"/>
            </a:endParaRPr>
          </a:p>
        </p:txBody>
      </p:sp>
      <p:sp>
        <p:nvSpPr>
          <p:cNvPr id="7" name="TextBox 6">
            <a:extLst>
              <a:ext uri="{FF2B5EF4-FFF2-40B4-BE49-F238E27FC236}">
                <a16:creationId xmlns:a16="http://schemas.microsoft.com/office/drawing/2014/main" id="{12F7E31A-B128-4428-6CDB-D73C58E63C32}"/>
              </a:ext>
            </a:extLst>
          </p:cNvPr>
          <p:cNvSpPr txBox="1"/>
          <p:nvPr/>
        </p:nvSpPr>
        <p:spPr>
          <a:xfrm>
            <a:off x="471224" y="1005984"/>
            <a:ext cx="2483074" cy="400110"/>
          </a:xfrm>
          <a:prstGeom prst="rect">
            <a:avLst/>
          </a:prstGeom>
          <a:noFill/>
        </p:spPr>
        <p:txBody>
          <a:bodyPr wrap="square">
            <a:spAutoFit/>
          </a:bodyPr>
          <a:lstStyle/>
          <a:p>
            <a:r>
              <a:rPr lang="en-US" sz="2000" b="1" dirty="0"/>
              <a:t>Bigram Chart</a:t>
            </a:r>
          </a:p>
        </p:txBody>
      </p:sp>
      <p:pic>
        <p:nvPicPr>
          <p:cNvPr id="3" name="Picture 2">
            <a:extLst>
              <a:ext uri="{FF2B5EF4-FFF2-40B4-BE49-F238E27FC236}">
                <a16:creationId xmlns:a16="http://schemas.microsoft.com/office/drawing/2014/main" id="{21A8993F-9577-E59C-37CF-EB26AE05A5CE}"/>
              </a:ext>
            </a:extLst>
          </p:cNvPr>
          <p:cNvPicPr>
            <a:picLocks noChangeAspect="1"/>
          </p:cNvPicPr>
          <p:nvPr/>
        </p:nvPicPr>
        <p:blipFill>
          <a:blip r:embed="rId3"/>
          <a:stretch>
            <a:fillRect/>
          </a:stretch>
        </p:blipFill>
        <p:spPr>
          <a:xfrm>
            <a:off x="4993907" y="1742976"/>
            <a:ext cx="4022158" cy="2261852"/>
          </a:xfrm>
          <a:prstGeom prst="rect">
            <a:avLst/>
          </a:prstGeom>
        </p:spPr>
      </p:pic>
      <p:pic>
        <p:nvPicPr>
          <p:cNvPr id="8" name="Picture 7">
            <a:extLst>
              <a:ext uri="{FF2B5EF4-FFF2-40B4-BE49-F238E27FC236}">
                <a16:creationId xmlns:a16="http://schemas.microsoft.com/office/drawing/2014/main" id="{5F096BCE-971B-9D87-593C-9E8FE065BD95}"/>
              </a:ext>
            </a:extLst>
          </p:cNvPr>
          <p:cNvPicPr>
            <a:picLocks noChangeAspect="1"/>
          </p:cNvPicPr>
          <p:nvPr/>
        </p:nvPicPr>
        <p:blipFill>
          <a:blip r:embed="rId4"/>
          <a:stretch>
            <a:fillRect/>
          </a:stretch>
        </p:blipFill>
        <p:spPr>
          <a:xfrm>
            <a:off x="156174" y="1406094"/>
            <a:ext cx="4709798" cy="2677427"/>
          </a:xfrm>
          <a:prstGeom prst="rect">
            <a:avLst/>
          </a:prstGeom>
        </p:spPr>
      </p:pic>
    </p:spTree>
    <p:extLst>
      <p:ext uri="{BB962C8B-B14F-4D97-AF65-F5344CB8AC3E}">
        <p14:creationId xmlns:p14="http://schemas.microsoft.com/office/powerpoint/2010/main" val="1142064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DFBA68-6696-A76F-7868-7C9535A28C98}"/>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3E88C9FD-5E72-F4E6-C005-71522E0EE7F9}"/>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2F64716B-116F-BCDF-CB17-F98B3EBE347C}"/>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BBD98F4D-411B-CBA1-BE04-BA9E14D8FF4E}"/>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5" name="TextBox 4">
            <a:extLst>
              <a:ext uri="{FF2B5EF4-FFF2-40B4-BE49-F238E27FC236}">
                <a16:creationId xmlns:a16="http://schemas.microsoft.com/office/drawing/2014/main" id="{4195416B-475B-5670-C6BA-3179B8F82863}"/>
              </a:ext>
            </a:extLst>
          </p:cNvPr>
          <p:cNvSpPr txBox="1"/>
          <p:nvPr/>
        </p:nvSpPr>
        <p:spPr>
          <a:xfrm>
            <a:off x="347028" y="177468"/>
            <a:ext cx="7656614" cy="2308324"/>
          </a:xfrm>
          <a:prstGeom prst="rect">
            <a:avLst/>
          </a:prstGeom>
          <a:noFill/>
        </p:spPr>
        <p:txBody>
          <a:bodyPr wrap="square">
            <a:spAutoFit/>
          </a:bodyPr>
          <a:lstStyle/>
          <a:p>
            <a:pPr algn="ctr"/>
            <a:r>
              <a:rPr lang="en-US" sz="3600" b="1" dirty="0">
                <a:solidFill>
                  <a:srgbClr val="C00000"/>
                </a:solidFill>
                <a:latin typeface="Arial Black" panose="020B0A04020102020204" pitchFamily="34" charset="0"/>
              </a:rPr>
              <a:t>Feature Engineering &amp; Models</a:t>
            </a:r>
          </a:p>
          <a:p>
            <a:pPr algn="ctr"/>
            <a:endParaRPr lang="en-US" sz="3600" b="1" dirty="0">
              <a:solidFill>
                <a:srgbClr val="C00000"/>
              </a:solidFill>
              <a:latin typeface="Arial Black" panose="020B0A04020102020204" pitchFamily="34" charset="0"/>
            </a:endParaRPr>
          </a:p>
          <a:p>
            <a:pPr algn="ctr"/>
            <a:endParaRPr lang="en-US" sz="3600" b="1" dirty="0">
              <a:solidFill>
                <a:srgbClr val="C00000"/>
              </a:solidFill>
              <a:latin typeface="Arial Black" panose="020B0A04020102020204" pitchFamily="34" charset="0"/>
            </a:endParaRPr>
          </a:p>
        </p:txBody>
      </p:sp>
      <p:sp>
        <p:nvSpPr>
          <p:cNvPr id="8" name="TextBox 7">
            <a:extLst>
              <a:ext uri="{FF2B5EF4-FFF2-40B4-BE49-F238E27FC236}">
                <a16:creationId xmlns:a16="http://schemas.microsoft.com/office/drawing/2014/main" id="{06A8CCF5-BBFF-ACEF-B962-92B81F8B125D}"/>
              </a:ext>
            </a:extLst>
          </p:cNvPr>
          <p:cNvSpPr txBox="1"/>
          <p:nvPr/>
        </p:nvSpPr>
        <p:spPr>
          <a:xfrm>
            <a:off x="175302" y="1356070"/>
            <a:ext cx="5150093" cy="3416320"/>
          </a:xfrm>
          <a:prstGeom prst="rect">
            <a:avLst/>
          </a:prstGeom>
          <a:noFill/>
        </p:spPr>
        <p:txBody>
          <a:bodyPr wrap="square">
            <a:spAutoFit/>
          </a:bodyPr>
          <a:lstStyle/>
          <a:p>
            <a:pPr>
              <a:buNone/>
            </a:pPr>
            <a:r>
              <a:rPr lang="en-US" sz="2400" dirty="0"/>
              <a:t>Text converted into numerical features using </a:t>
            </a:r>
            <a:r>
              <a:rPr lang="en-US" sz="2400" b="1" dirty="0"/>
              <a:t>TF-IDF</a:t>
            </a:r>
            <a:r>
              <a:rPr lang="en-US" sz="2400" dirty="0"/>
              <a:t>.</a:t>
            </a:r>
          </a:p>
          <a:p>
            <a:pPr>
              <a:buNone/>
            </a:pPr>
            <a:r>
              <a:rPr lang="en-US" sz="2400" dirty="0"/>
              <a:t>Two models trained:</a:t>
            </a:r>
          </a:p>
          <a:p>
            <a:pPr>
              <a:buFont typeface="Arial" panose="020B0604020202020204" pitchFamily="34" charset="0"/>
              <a:buChar char="•"/>
            </a:pPr>
            <a:r>
              <a:rPr lang="en-US" sz="2400" dirty="0"/>
              <a:t>Naïve Bayes → fast baseline model </a:t>
            </a:r>
          </a:p>
          <a:p>
            <a:pPr>
              <a:buFont typeface="Arial" panose="020B0604020202020204" pitchFamily="34" charset="0"/>
              <a:buChar char="•"/>
            </a:pPr>
            <a:r>
              <a:rPr lang="en-US" sz="2400" dirty="0"/>
              <a:t>Logistic Regression → captures word relationships </a:t>
            </a:r>
          </a:p>
          <a:p>
            <a:pPr>
              <a:buNone/>
            </a:pPr>
            <a:r>
              <a:rPr lang="en-US" sz="2400" dirty="0"/>
              <a:t>Dataset split:</a:t>
            </a:r>
          </a:p>
          <a:p>
            <a:pPr>
              <a:buFont typeface="Arial" panose="020B0604020202020204" pitchFamily="34" charset="0"/>
              <a:buChar char="•"/>
            </a:pPr>
            <a:r>
              <a:rPr lang="en-US" sz="2400" dirty="0"/>
              <a:t>80% training </a:t>
            </a:r>
          </a:p>
          <a:p>
            <a:pPr>
              <a:buFont typeface="Arial" panose="020B0604020202020204" pitchFamily="34" charset="0"/>
              <a:buChar char="•"/>
            </a:pPr>
            <a:r>
              <a:rPr lang="en-US" sz="2400" dirty="0"/>
              <a:t>20% testing</a:t>
            </a:r>
          </a:p>
        </p:txBody>
      </p:sp>
      <p:pic>
        <p:nvPicPr>
          <p:cNvPr id="9" name="Picture 8">
            <a:extLst>
              <a:ext uri="{FF2B5EF4-FFF2-40B4-BE49-F238E27FC236}">
                <a16:creationId xmlns:a16="http://schemas.microsoft.com/office/drawing/2014/main" id="{BC23FEB1-B06C-2CC4-0127-65324B155520}"/>
              </a:ext>
            </a:extLst>
          </p:cNvPr>
          <p:cNvPicPr>
            <a:picLocks noChangeAspect="1"/>
          </p:cNvPicPr>
          <p:nvPr/>
        </p:nvPicPr>
        <p:blipFill>
          <a:blip r:embed="rId3"/>
          <a:stretch>
            <a:fillRect/>
          </a:stretch>
        </p:blipFill>
        <p:spPr>
          <a:xfrm>
            <a:off x="2204048" y="3664394"/>
            <a:ext cx="6773783" cy="1012449"/>
          </a:xfrm>
          <a:prstGeom prst="rect">
            <a:avLst/>
          </a:prstGeom>
        </p:spPr>
      </p:pic>
    </p:spTree>
    <p:extLst>
      <p:ext uri="{BB962C8B-B14F-4D97-AF65-F5344CB8AC3E}">
        <p14:creationId xmlns:p14="http://schemas.microsoft.com/office/powerpoint/2010/main" val="2096810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515AF7B-452D-2F49-4510-8A86FDF30E38}"/>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982F48F0-3188-71A2-144D-06C00830BB79}"/>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0664EF73-1EA9-E133-97F8-83DDA2CB7E72}"/>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BCD72D5E-4E23-9D83-9CE4-37FD916292D8}"/>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5" name="TextBox 4">
            <a:extLst>
              <a:ext uri="{FF2B5EF4-FFF2-40B4-BE49-F238E27FC236}">
                <a16:creationId xmlns:a16="http://schemas.microsoft.com/office/drawing/2014/main" id="{5AA95243-4EEF-5774-E6CC-5C8678A2C9D7}"/>
              </a:ext>
            </a:extLst>
          </p:cNvPr>
          <p:cNvSpPr txBox="1"/>
          <p:nvPr/>
        </p:nvSpPr>
        <p:spPr>
          <a:xfrm>
            <a:off x="347028" y="179494"/>
            <a:ext cx="8382904" cy="1754326"/>
          </a:xfrm>
          <a:prstGeom prst="rect">
            <a:avLst/>
          </a:prstGeom>
          <a:noFill/>
        </p:spPr>
        <p:txBody>
          <a:bodyPr wrap="square">
            <a:spAutoFit/>
          </a:bodyPr>
          <a:lstStyle/>
          <a:p>
            <a:pPr algn="ctr"/>
            <a:r>
              <a:rPr lang="en-US" sz="3600" b="1" dirty="0">
                <a:solidFill>
                  <a:srgbClr val="C00000"/>
                </a:solidFill>
                <a:latin typeface="Arial Black" panose="020B0A04020102020204" pitchFamily="34" charset="0"/>
              </a:rPr>
              <a:t>Models Evaluation</a:t>
            </a:r>
          </a:p>
          <a:p>
            <a:pPr algn="ctr"/>
            <a:endParaRPr lang="en-US" sz="3600" b="1" dirty="0">
              <a:solidFill>
                <a:srgbClr val="C00000"/>
              </a:solidFill>
              <a:latin typeface="Arial Black" panose="020B0A04020102020204" pitchFamily="34" charset="0"/>
            </a:endParaRPr>
          </a:p>
          <a:p>
            <a:pPr algn="ctr"/>
            <a:endParaRPr lang="en-US" sz="3600" b="1" dirty="0">
              <a:solidFill>
                <a:srgbClr val="C00000"/>
              </a:solidFill>
              <a:latin typeface="Arial Black" panose="020B0A04020102020204" pitchFamily="34" charset="0"/>
            </a:endParaRPr>
          </a:p>
        </p:txBody>
      </p:sp>
      <p:sp>
        <p:nvSpPr>
          <p:cNvPr id="3" name="TextBox 2">
            <a:extLst>
              <a:ext uri="{FF2B5EF4-FFF2-40B4-BE49-F238E27FC236}">
                <a16:creationId xmlns:a16="http://schemas.microsoft.com/office/drawing/2014/main" id="{4B6DE80E-0F8F-3CB4-739A-6F3AA592979F}"/>
              </a:ext>
            </a:extLst>
          </p:cNvPr>
          <p:cNvSpPr txBox="1"/>
          <p:nvPr/>
        </p:nvSpPr>
        <p:spPr>
          <a:xfrm>
            <a:off x="4079024" y="1694587"/>
            <a:ext cx="4914900" cy="1754326"/>
          </a:xfrm>
          <a:prstGeom prst="rect">
            <a:avLst/>
          </a:prstGeom>
          <a:noFill/>
        </p:spPr>
        <p:txBody>
          <a:bodyPr wrap="square">
            <a:spAutoFit/>
          </a:bodyPr>
          <a:lstStyle/>
          <a:p>
            <a:pPr>
              <a:buNone/>
            </a:pPr>
            <a:r>
              <a:rPr lang="en-US" b="1" dirty="0"/>
              <a:t>Results</a:t>
            </a:r>
            <a:endParaRPr lang="en-US" dirty="0"/>
          </a:p>
          <a:p>
            <a:pPr>
              <a:buFont typeface="Arial" panose="020B0604020202020204" pitchFamily="34" charset="0"/>
              <a:buChar char="•"/>
            </a:pPr>
            <a:r>
              <a:rPr lang="en-US" dirty="0"/>
              <a:t>Logistic Regression achieved better accuracy. </a:t>
            </a:r>
          </a:p>
          <a:p>
            <a:pPr>
              <a:buFont typeface="Arial" panose="020B0604020202020204" pitchFamily="34" charset="0"/>
              <a:buChar char="•"/>
            </a:pPr>
            <a:r>
              <a:rPr lang="en-US" dirty="0"/>
              <a:t>Strong diagonal values show correct classification.</a:t>
            </a:r>
          </a:p>
          <a:p>
            <a:r>
              <a:rPr lang="en-US" dirty="0"/>
              <a:t> </a:t>
            </a:r>
          </a:p>
          <a:p>
            <a:pPr>
              <a:buNone/>
            </a:pPr>
            <a:r>
              <a:rPr lang="en-US" b="1" dirty="0"/>
              <a:t>Reason: </a:t>
            </a:r>
            <a:r>
              <a:rPr lang="en-US" dirty="0"/>
              <a:t>Logistic Regression handles feature relationships better.</a:t>
            </a:r>
          </a:p>
        </p:txBody>
      </p:sp>
      <p:sp>
        <p:nvSpPr>
          <p:cNvPr id="6" name="TextBox 5">
            <a:extLst>
              <a:ext uri="{FF2B5EF4-FFF2-40B4-BE49-F238E27FC236}">
                <a16:creationId xmlns:a16="http://schemas.microsoft.com/office/drawing/2014/main" id="{D7EBB867-E3AB-0A3A-1C80-46EF07B97ECB}"/>
              </a:ext>
            </a:extLst>
          </p:cNvPr>
          <p:cNvSpPr txBox="1"/>
          <p:nvPr/>
        </p:nvSpPr>
        <p:spPr>
          <a:xfrm>
            <a:off x="867543" y="1076918"/>
            <a:ext cx="2260121" cy="400110"/>
          </a:xfrm>
          <a:prstGeom prst="rect">
            <a:avLst/>
          </a:prstGeom>
          <a:noFill/>
        </p:spPr>
        <p:txBody>
          <a:bodyPr wrap="square">
            <a:spAutoFit/>
          </a:bodyPr>
          <a:lstStyle/>
          <a:p>
            <a:pPr>
              <a:buNone/>
            </a:pPr>
            <a:r>
              <a:rPr lang="en-US" sz="2000" b="1" dirty="0"/>
              <a:t>Confusion Matrix</a:t>
            </a:r>
          </a:p>
        </p:txBody>
      </p:sp>
      <p:grpSp>
        <p:nvGrpSpPr>
          <p:cNvPr id="10" name="Group 9">
            <a:extLst>
              <a:ext uri="{FF2B5EF4-FFF2-40B4-BE49-F238E27FC236}">
                <a16:creationId xmlns:a16="http://schemas.microsoft.com/office/drawing/2014/main" id="{FAFF8C94-2920-3781-7BEE-1E0799827F5C}"/>
              </a:ext>
            </a:extLst>
          </p:cNvPr>
          <p:cNvGrpSpPr/>
          <p:nvPr/>
        </p:nvGrpSpPr>
        <p:grpSpPr>
          <a:xfrm>
            <a:off x="7392758" y="4180946"/>
            <a:ext cx="1083203" cy="863386"/>
            <a:chOff x="20532" y="55586"/>
            <a:chExt cx="1083203" cy="863386"/>
          </a:xfrm>
        </p:grpSpPr>
        <p:sp>
          <p:nvSpPr>
            <p:cNvPr id="11" name="Shape 1">
              <a:extLst>
                <a:ext uri="{FF2B5EF4-FFF2-40B4-BE49-F238E27FC236}">
                  <a16:creationId xmlns:a16="http://schemas.microsoft.com/office/drawing/2014/main" id="{30509179-7E2F-65C1-5406-8CEEAB288DC2}"/>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12" name="Shape 2">
              <a:extLst>
                <a:ext uri="{FF2B5EF4-FFF2-40B4-BE49-F238E27FC236}">
                  <a16:creationId xmlns:a16="http://schemas.microsoft.com/office/drawing/2014/main" id="{C9C62E4D-74D7-689F-87FA-5BDB7E05C046}"/>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pic>
        <p:nvPicPr>
          <p:cNvPr id="13" name="Picture 12">
            <a:extLst>
              <a:ext uri="{FF2B5EF4-FFF2-40B4-BE49-F238E27FC236}">
                <a16:creationId xmlns:a16="http://schemas.microsoft.com/office/drawing/2014/main" id="{7979D50C-E21D-3D39-FE71-C94AF048249E}"/>
              </a:ext>
            </a:extLst>
          </p:cNvPr>
          <p:cNvPicPr>
            <a:picLocks noChangeAspect="1"/>
          </p:cNvPicPr>
          <p:nvPr/>
        </p:nvPicPr>
        <p:blipFill>
          <a:blip r:embed="rId3"/>
          <a:stretch>
            <a:fillRect/>
          </a:stretch>
        </p:blipFill>
        <p:spPr>
          <a:xfrm>
            <a:off x="250043" y="4257251"/>
            <a:ext cx="5943600" cy="706755"/>
          </a:xfrm>
          <a:prstGeom prst="rect">
            <a:avLst/>
          </a:prstGeom>
        </p:spPr>
      </p:pic>
      <p:pic>
        <p:nvPicPr>
          <p:cNvPr id="24" name="Picture 23" descr="Sentiment_Visual_7_Confusion_Matrix.png"/>
          <p:cNvPicPr>
            <a:picLocks noChangeAspect="1"/>
          </p:cNvPicPr>
          <p:nvPr/>
        </p:nvPicPr>
        <p:blipFill>
          <a:blip r:embed="rId4"/>
          <a:srcRect l="8050" r="14243"/>
          <a:stretch>
            <a:fillRect/>
          </a:stretch>
        </p:blipFill>
        <p:spPr>
          <a:xfrm>
            <a:off x="155864" y="1359826"/>
            <a:ext cx="3731996" cy="2801498"/>
          </a:xfrm>
          <a:prstGeom prst="rect">
            <a:avLst/>
          </a:prstGeom>
        </p:spPr>
      </p:pic>
    </p:spTree>
    <p:extLst>
      <p:ext uri="{BB962C8B-B14F-4D97-AF65-F5344CB8AC3E}">
        <p14:creationId xmlns:p14="http://schemas.microsoft.com/office/powerpoint/2010/main" val="3912456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7A905D-CD70-CD72-4032-FCC1589721AE}"/>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DBFADFFA-BBD0-7F05-DD7E-612A0B57893F}"/>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8733FF8A-0D6F-9E6B-F360-C5BB1B1F5FE9}"/>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9C0C8D82-DDBC-7E9F-682A-B6AA607854B0}"/>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5" name="TextBox 4">
            <a:extLst>
              <a:ext uri="{FF2B5EF4-FFF2-40B4-BE49-F238E27FC236}">
                <a16:creationId xmlns:a16="http://schemas.microsoft.com/office/drawing/2014/main" id="{E10D7AD2-899B-FD65-4F9F-025E6FE679DF}"/>
              </a:ext>
            </a:extLst>
          </p:cNvPr>
          <p:cNvSpPr txBox="1"/>
          <p:nvPr/>
        </p:nvSpPr>
        <p:spPr>
          <a:xfrm>
            <a:off x="347028" y="456322"/>
            <a:ext cx="8382904" cy="646331"/>
          </a:xfrm>
          <a:prstGeom prst="rect">
            <a:avLst/>
          </a:prstGeom>
          <a:noFill/>
        </p:spPr>
        <p:txBody>
          <a:bodyPr wrap="square">
            <a:spAutoFit/>
          </a:bodyPr>
          <a:lstStyle/>
          <a:p>
            <a:pPr algn="ctr"/>
            <a:r>
              <a:rPr lang="en-US" sz="3600" b="1" dirty="0">
                <a:solidFill>
                  <a:srgbClr val="C00000"/>
                </a:solidFill>
                <a:latin typeface="Arial Black" panose="020B0A04020102020204" pitchFamily="34" charset="0"/>
              </a:rPr>
              <a:t>2. TOPIC CLUSTERING</a:t>
            </a:r>
          </a:p>
        </p:txBody>
      </p:sp>
      <p:sp>
        <p:nvSpPr>
          <p:cNvPr id="4" name="TextBox 3">
            <a:extLst>
              <a:ext uri="{FF2B5EF4-FFF2-40B4-BE49-F238E27FC236}">
                <a16:creationId xmlns:a16="http://schemas.microsoft.com/office/drawing/2014/main" id="{48E79D50-F696-CED8-1759-93DA0415FA79}"/>
              </a:ext>
            </a:extLst>
          </p:cNvPr>
          <p:cNvSpPr txBox="1"/>
          <p:nvPr/>
        </p:nvSpPr>
        <p:spPr>
          <a:xfrm>
            <a:off x="347027" y="1303187"/>
            <a:ext cx="7968837" cy="3416320"/>
          </a:xfrm>
          <a:prstGeom prst="rect">
            <a:avLst/>
          </a:prstGeom>
          <a:noFill/>
        </p:spPr>
        <p:txBody>
          <a:bodyPr wrap="square">
            <a:spAutoFit/>
          </a:bodyPr>
          <a:lstStyle/>
          <a:p>
            <a:pPr>
              <a:buNone/>
            </a:pPr>
            <a:r>
              <a:rPr lang="en-US" sz="2400" b="1" dirty="0"/>
              <a:t>Clustering Approach</a:t>
            </a:r>
          </a:p>
          <a:p>
            <a:pPr>
              <a:buNone/>
            </a:pPr>
            <a:r>
              <a:rPr lang="en-US" sz="2400" b="1" dirty="0"/>
              <a:t>Goal: </a:t>
            </a:r>
            <a:r>
              <a:rPr lang="en-US" sz="2400" dirty="0"/>
              <a:t>Automatically group news articles into topics.</a:t>
            </a:r>
          </a:p>
          <a:p>
            <a:pPr>
              <a:buNone/>
            </a:pPr>
            <a:r>
              <a:rPr lang="en-US" sz="2400" b="1" dirty="0"/>
              <a:t>Steps performed:</a:t>
            </a:r>
          </a:p>
          <a:p>
            <a:pPr marL="514350" indent="-514350">
              <a:buFont typeface="+mj-lt"/>
              <a:buAutoNum type="arabicParenR"/>
            </a:pPr>
            <a:r>
              <a:rPr lang="en-US" sz="2400" dirty="0"/>
              <a:t>Preprocess news text </a:t>
            </a:r>
          </a:p>
          <a:p>
            <a:pPr marL="514350" indent="-514350">
              <a:buFont typeface="+mj-lt"/>
              <a:buAutoNum type="arabicParenR"/>
            </a:pPr>
            <a:r>
              <a:rPr lang="en-US" sz="2400" dirty="0"/>
              <a:t>Convert text to TF-IDF features </a:t>
            </a:r>
          </a:p>
          <a:p>
            <a:pPr marL="514350" indent="-514350">
              <a:buFont typeface="+mj-lt"/>
              <a:buAutoNum type="arabicParenR"/>
            </a:pPr>
            <a:r>
              <a:rPr lang="en-US" sz="2400" dirty="0"/>
              <a:t>Apply K-Means clustering </a:t>
            </a:r>
          </a:p>
          <a:p>
            <a:pPr marL="514350" indent="-514350">
              <a:buFont typeface="+mj-lt"/>
              <a:buAutoNum type="arabicParenR"/>
            </a:pPr>
            <a:r>
              <a:rPr lang="en-US" sz="2400" dirty="0"/>
              <a:t>Use PCA for visualization </a:t>
            </a:r>
          </a:p>
          <a:p>
            <a:endParaRPr lang="en-US" sz="2400" dirty="0"/>
          </a:p>
          <a:p>
            <a:pPr>
              <a:buNone/>
            </a:pPr>
            <a:r>
              <a:rPr lang="en-US" sz="2400" dirty="0"/>
              <a:t>This enables </a:t>
            </a:r>
            <a:r>
              <a:rPr lang="en-US" sz="2400" b="1" dirty="0"/>
              <a:t>unsupervised topic discovery</a:t>
            </a:r>
            <a:r>
              <a:rPr lang="en-US" sz="2400" dirty="0"/>
              <a:t>.</a:t>
            </a:r>
          </a:p>
        </p:txBody>
      </p:sp>
    </p:spTree>
    <p:extLst>
      <p:ext uri="{BB962C8B-B14F-4D97-AF65-F5344CB8AC3E}">
        <p14:creationId xmlns:p14="http://schemas.microsoft.com/office/powerpoint/2010/main" val="541148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AB55180-5B61-45D3-3C31-27ED89735DAD}"/>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8D9F0D71-8F6E-CE18-730A-93D5F9B2073C}"/>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77160A0F-CAAC-FE21-3A49-4901DBF8DF1C}"/>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33003057-62D6-DAE8-9061-AA2F54FAECD2}"/>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5" name="TextBox 4">
            <a:extLst>
              <a:ext uri="{FF2B5EF4-FFF2-40B4-BE49-F238E27FC236}">
                <a16:creationId xmlns:a16="http://schemas.microsoft.com/office/drawing/2014/main" id="{F889EDF5-0267-A7ED-24CC-F5A8946FD299}"/>
              </a:ext>
            </a:extLst>
          </p:cNvPr>
          <p:cNvSpPr txBox="1"/>
          <p:nvPr/>
        </p:nvSpPr>
        <p:spPr>
          <a:xfrm>
            <a:off x="294156" y="552269"/>
            <a:ext cx="8382904" cy="646331"/>
          </a:xfrm>
          <a:prstGeom prst="rect">
            <a:avLst/>
          </a:prstGeom>
          <a:noFill/>
        </p:spPr>
        <p:txBody>
          <a:bodyPr wrap="square">
            <a:spAutoFit/>
          </a:bodyPr>
          <a:lstStyle/>
          <a:p>
            <a:pPr algn="ctr">
              <a:buNone/>
            </a:pPr>
            <a:r>
              <a:rPr lang="en-US" sz="3600" b="1" dirty="0">
                <a:solidFill>
                  <a:srgbClr val="C00000"/>
                </a:solidFill>
                <a:latin typeface="Arial Black" panose="020B0A04020102020204" pitchFamily="34" charset="0"/>
              </a:rPr>
              <a:t>Clustering Results</a:t>
            </a:r>
          </a:p>
        </p:txBody>
      </p:sp>
      <p:pic>
        <p:nvPicPr>
          <p:cNvPr id="6" name="Picture 5">
            <a:extLst>
              <a:ext uri="{FF2B5EF4-FFF2-40B4-BE49-F238E27FC236}">
                <a16:creationId xmlns:a16="http://schemas.microsoft.com/office/drawing/2014/main" id="{87EBF45B-B6E8-977D-51AC-97F192D302ED}"/>
              </a:ext>
            </a:extLst>
          </p:cNvPr>
          <p:cNvPicPr>
            <a:picLocks noChangeAspect="1"/>
          </p:cNvPicPr>
          <p:nvPr/>
        </p:nvPicPr>
        <p:blipFill>
          <a:blip r:embed="rId3"/>
          <a:stretch>
            <a:fillRect/>
          </a:stretch>
        </p:blipFill>
        <p:spPr>
          <a:xfrm>
            <a:off x="181155" y="1860531"/>
            <a:ext cx="3946585" cy="1912434"/>
          </a:xfrm>
          <a:prstGeom prst="rect">
            <a:avLst/>
          </a:prstGeom>
        </p:spPr>
      </p:pic>
      <p:sp>
        <p:nvSpPr>
          <p:cNvPr id="4" name="TextBox 3">
            <a:extLst>
              <a:ext uri="{FF2B5EF4-FFF2-40B4-BE49-F238E27FC236}">
                <a16:creationId xmlns:a16="http://schemas.microsoft.com/office/drawing/2014/main" id="{BF632F27-2E93-9F0D-AE23-FD97FE52EF3A}"/>
              </a:ext>
            </a:extLst>
          </p:cNvPr>
          <p:cNvSpPr txBox="1"/>
          <p:nvPr/>
        </p:nvSpPr>
        <p:spPr>
          <a:xfrm>
            <a:off x="-73236" y="4210754"/>
            <a:ext cx="8947662" cy="779444"/>
          </a:xfrm>
          <a:prstGeom prst="rect">
            <a:avLst/>
          </a:prstGeom>
          <a:noFill/>
        </p:spPr>
        <p:txBody>
          <a:bodyPr wrap="square">
            <a:spAutoFit/>
          </a:bodyPr>
          <a:lstStyle/>
          <a:p>
            <a:pPr marL="342900" marR="0" indent="-342900">
              <a:lnSpc>
                <a:spcPct val="115000"/>
              </a:lnSpc>
              <a:spcAft>
                <a:spcPts val="800"/>
              </a:spcAft>
              <a:buFont typeface="Arial" panose="020B0604020202020204" pitchFamily="34" charset="0"/>
              <a:buChar char="•"/>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The Elbow Method helps determine the most appropriate number of clusters by analyzing how clustering error decreases as the number of clusters increases.</a:t>
            </a:r>
          </a:p>
        </p:txBody>
      </p:sp>
      <p:sp>
        <p:nvSpPr>
          <p:cNvPr id="9" name="TextBox 8">
            <a:extLst>
              <a:ext uri="{FF2B5EF4-FFF2-40B4-BE49-F238E27FC236}">
                <a16:creationId xmlns:a16="http://schemas.microsoft.com/office/drawing/2014/main" id="{578BE9CB-02C5-7FA1-B722-861B1180AC0F}"/>
              </a:ext>
            </a:extLst>
          </p:cNvPr>
          <p:cNvSpPr txBox="1"/>
          <p:nvPr/>
        </p:nvSpPr>
        <p:spPr>
          <a:xfrm>
            <a:off x="81952" y="1491199"/>
            <a:ext cx="4442604" cy="369332"/>
          </a:xfrm>
          <a:prstGeom prst="rect">
            <a:avLst/>
          </a:prstGeom>
          <a:noFill/>
        </p:spPr>
        <p:txBody>
          <a:bodyPr wrap="square">
            <a:spAutoFit/>
          </a:bodyPr>
          <a:lstStyle/>
          <a:p>
            <a:r>
              <a:rPr lang="en-US" b="1" dirty="0"/>
              <a:t>Elbow Method Graph</a:t>
            </a:r>
          </a:p>
        </p:txBody>
      </p:sp>
      <p:pic>
        <p:nvPicPr>
          <p:cNvPr id="24" name="Picture 23" descr="Clustering_Visual_9_Elbow_Method.png"/>
          <p:cNvPicPr>
            <a:picLocks noChangeAspect="1"/>
          </p:cNvPicPr>
          <p:nvPr/>
        </p:nvPicPr>
        <p:blipFill>
          <a:blip r:embed="rId4"/>
          <a:stretch>
            <a:fillRect/>
          </a:stretch>
        </p:blipFill>
        <p:spPr>
          <a:xfrm>
            <a:off x="4248509" y="1364576"/>
            <a:ext cx="4895491" cy="2855703"/>
          </a:xfrm>
          <a:prstGeom prst="rect">
            <a:avLst/>
          </a:prstGeom>
        </p:spPr>
      </p:pic>
    </p:spTree>
    <p:extLst>
      <p:ext uri="{BB962C8B-B14F-4D97-AF65-F5344CB8AC3E}">
        <p14:creationId xmlns:p14="http://schemas.microsoft.com/office/powerpoint/2010/main" val="3183852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0C32E9-F6EC-E1B2-8222-3226799756EF}"/>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2AF5E100-7BA9-76D7-F826-FAA32D964CF4}"/>
              </a:ext>
            </a:extLst>
          </p:cNvPr>
          <p:cNvGrpSpPr/>
          <p:nvPr/>
        </p:nvGrpSpPr>
        <p:grpSpPr>
          <a:xfrm>
            <a:off x="49848" y="62044"/>
            <a:ext cx="1083203" cy="863386"/>
            <a:chOff x="20532" y="55586"/>
            <a:chExt cx="1083203" cy="863386"/>
          </a:xfrm>
        </p:grpSpPr>
        <p:sp>
          <p:nvSpPr>
            <p:cNvPr id="22" name="Shape 1">
              <a:extLst>
                <a:ext uri="{FF2B5EF4-FFF2-40B4-BE49-F238E27FC236}">
                  <a16:creationId xmlns:a16="http://schemas.microsoft.com/office/drawing/2014/main" id="{8195B92A-9F74-E89C-34C9-7259464BA94B}"/>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23" name="Shape 2">
              <a:extLst>
                <a:ext uri="{FF2B5EF4-FFF2-40B4-BE49-F238E27FC236}">
                  <a16:creationId xmlns:a16="http://schemas.microsoft.com/office/drawing/2014/main" id="{A162B318-EC24-4B62-B9C4-0DE1F62C48C6}"/>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5" name="TextBox 4">
            <a:extLst>
              <a:ext uri="{FF2B5EF4-FFF2-40B4-BE49-F238E27FC236}">
                <a16:creationId xmlns:a16="http://schemas.microsoft.com/office/drawing/2014/main" id="{5DC74B39-0956-A994-BF30-87A6E6590F92}"/>
              </a:ext>
            </a:extLst>
          </p:cNvPr>
          <p:cNvSpPr txBox="1"/>
          <p:nvPr/>
        </p:nvSpPr>
        <p:spPr>
          <a:xfrm>
            <a:off x="347028" y="324939"/>
            <a:ext cx="8382904" cy="646331"/>
          </a:xfrm>
          <a:prstGeom prst="rect">
            <a:avLst/>
          </a:prstGeom>
          <a:noFill/>
        </p:spPr>
        <p:txBody>
          <a:bodyPr wrap="square">
            <a:spAutoFit/>
          </a:bodyPr>
          <a:lstStyle/>
          <a:p>
            <a:pPr algn="ctr">
              <a:buNone/>
            </a:pPr>
            <a:r>
              <a:rPr lang="en-US" sz="3600" b="1" dirty="0">
                <a:solidFill>
                  <a:srgbClr val="C00000"/>
                </a:solidFill>
                <a:latin typeface="Arial Black" panose="020B0A04020102020204" pitchFamily="34" charset="0"/>
              </a:rPr>
              <a:t>Clustering Results</a:t>
            </a:r>
          </a:p>
        </p:txBody>
      </p:sp>
      <p:sp>
        <p:nvSpPr>
          <p:cNvPr id="3" name="TextBox 2">
            <a:extLst>
              <a:ext uri="{FF2B5EF4-FFF2-40B4-BE49-F238E27FC236}">
                <a16:creationId xmlns:a16="http://schemas.microsoft.com/office/drawing/2014/main" id="{8D01E39C-8723-A1EC-646B-E43230509B7B}"/>
              </a:ext>
            </a:extLst>
          </p:cNvPr>
          <p:cNvSpPr txBox="1"/>
          <p:nvPr/>
        </p:nvSpPr>
        <p:spPr>
          <a:xfrm>
            <a:off x="69565" y="2750535"/>
            <a:ext cx="4502435" cy="1200329"/>
          </a:xfrm>
          <a:prstGeom prst="rect">
            <a:avLst/>
          </a:prstGeom>
          <a:noFill/>
        </p:spPr>
        <p:txBody>
          <a:bodyPr wrap="square">
            <a:spAutoFit/>
          </a:bodyPr>
          <a:lstStyle/>
          <a:p>
            <a:pPr>
              <a:buNone/>
            </a:pPr>
            <a:r>
              <a:rPr lang="en-US" b="1" dirty="0"/>
              <a:t>Insights</a:t>
            </a:r>
            <a:endParaRPr lang="en-US" dirty="0"/>
          </a:p>
          <a:p>
            <a:pPr>
              <a:buFont typeface="Arial" panose="020B0604020202020204" pitchFamily="34" charset="0"/>
              <a:buChar char="•"/>
            </a:pPr>
            <a:r>
              <a:rPr lang="en-US" dirty="0"/>
              <a:t>Optimal clusters determined as </a:t>
            </a:r>
            <a:r>
              <a:rPr lang="en-US" b="1" dirty="0"/>
              <a:t>K = 4</a:t>
            </a:r>
            <a:r>
              <a:rPr lang="en-US" dirty="0"/>
              <a:t>. </a:t>
            </a:r>
          </a:p>
          <a:p>
            <a:pPr>
              <a:buFont typeface="Arial" panose="020B0604020202020204" pitchFamily="34" charset="0"/>
              <a:buChar char="•"/>
            </a:pPr>
            <a:r>
              <a:rPr lang="en-US" dirty="0"/>
              <a:t>PCA shows clear separation between clusters. </a:t>
            </a:r>
          </a:p>
          <a:p>
            <a:pPr>
              <a:buFont typeface="Arial" panose="020B0604020202020204" pitchFamily="34" charset="0"/>
              <a:buChar char="•"/>
            </a:pPr>
            <a:r>
              <a:rPr lang="en-US" dirty="0"/>
              <a:t>Top keywords used to interpret each topic.</a:t>
            </a:r>
          </a:p>
        </p:txBody>
      </p:sp>
      <p:sp>
        <p:nvSpPr>
          <p:cNvPr id="10" name="TextBox 9">
            <a:extLst>
              <a:ext uri="{FF2B5EF4-FFF2-40B4-BE49-F238E27FC236}">
                <a16:creationId xmlns:a16="http://schemas.microsoft.com/office/drawing/2014/main" id="{D6A75046-F02A-08C5-473B-A6919941988A}"/>
              </a:ext>
            </a:extLst>
          </p:cNvPr>
          <p:cNvSpPr txBox="1"/>
          <p:nvPr/>
        </p:nvSpPr>
        <p:spPr>
          <a:xfrm>
            <a:off x="558607" y="1103073"/>
            <a:ext cx="3330195" cy="461665"/>
          </a:xfrm>
          <a:prstGeom prst="rect">
            <a:avLst/>
          </a:prstGeom>
          <a:noFill/>
        </p:spPr>
        <p:txBody>
          <a:bodyPr wrap="square">
            <a:spAutoFit/>
          </a:bodyPr>
          <a:lstStyle/>
          <a:p>
            <a:pPr>
              <a:buNone/>
            </a:pPr>
            <a:r>
              <a:rPr lang="en-US" sz="2400" b="1" dirty="0"/>
              <a:t>PCA Cluster Scatter Plot</a:t>
            </a:r>
          </a:p>
        </p:txBody>
      </p:sp>
      <p:pic>
        <p:nvPicPr>
          <p:cNvPr id="11" name="Picture 10">
            <a:extLst>
              <a:ext uri="{FF2B5EF4-FFF2-40B4-BE49-F238E27FC236}">
                <a16:creationId xmlns:a16="http://schemas.microsoft.com/office/drawing/2014/main" id="{43B005F9-D932-A9EB-BC6B-4D971FB36A5C}"/>
              </a:ext>
            </a:extLst>
          </p:cNvPr>
          <p:cNvPicPr>
            <a:picLocks noChangeAspect="1"/>
          </p:cNvPicPr>
          <p:nvPr/>
        </p:nvPicPr>
        <p:blipFill>
          <a:blip r:embed="rId3"/>
          <a:stretch>
            <a:fillRect/>
          </a:stretch>
        </p:blipFill>
        <p:spPr>
          <a:xfrm>
            <a:off x="647130" y="1609998"/>
            <a:ext cx="3692809" cy="1061903"/>
          </a:xfrm>
          <a:prstGeom prst="rect">
            <a:avLst/>
          </a:prstGeom>
        </p:spPr>
      </p:pic>
      <p:sp>
        <p:nvSpPr>
          <p:cNvPr id="14" name="TextBox 13">
            <a:extLst>
              <a:ext uri="{FF2B5EF4-FFF2-40B4-BE49-F238E27FC236}">
                <a16:creationId xmlns:a16="http://schemas.microsoft.com/office/drawing/2014/main" id="{9B00D044-9012-20AE-A697-4C6FB944DD04}"/>
              </a:ext>
            </a:extLst>
          </p:cNvPr>
          <p:cNvSpPr txBox="1"/>
          <p:nvPr/>
        </p:nvSpPr>
        <p:spPr>
          <a:xfrm>
            <a:off x="250043" y="3996124"/>
            <a:ext cx="8824392" cy="1029256"/>
          </a:xfrm>
          <a:prstGeom prst="rect">
            <a:avLst/>
          </a:prstGeom>
          <a:noFill/>
        </p:spPr>
        <p:txBody>
          <a:bodyPr wrap="square">
            <a:spAutoFit/>
          </a:bodyPr>
          <a:lstStyle/>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The PCA scatter plot visualizes the clustered data in two dimensions, with each point representing a document and colors indicating cluster membership. Clear separation between clusters suggests that the model effectively grouped similar texts together.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01D46556-0BC5-6749-DE7D-8744047F2AE7}"/>
              </a:ext>
            </a:extLst>
          </p:cNvPr>
          <p:cNvPicPr>
            <a:picLocks noChangeAspect="1"/>
          </p:cNvPicPr>
          <p:nvPr/>
        </p:nvPicPr>
        <p:blipFill>
          <a:blip r:embed="rId4"/>
          <a:srcRect r="48393"/>
          <a:stretch>
            <a:fillRect/>
          </a:stretch>
        </p:blipFill>
        <p:spPr>
          <a:xfrm>
            <a:off x="5019677" y="1076918"/>
            <a:ext cx="3330193" cy="2725935"/>
          </a:xfrm>
          <a:prstGeom prst="rect">
            <a:avLst/>
          </a:prstGeom>
        </p:spPr>
      </p:pic>
    </p:spTree>
    <p:extLst>
      <p:ext uri="{BB962C8B-B14F-4D97-AF65-F5344CB8AC3E}">
        <p14:creationId xmlns:p14="http://schemas.microsoft.com/office/powerpoint/2010/main" val="3150045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6" name="Text 0">
            <a:extLst>
              <a:ext uri="{FF2B5EF4-FFF2-40B4-BE49-F238E27FC236}">
                <a16:creationId xmlns:a16="http://schemas.microsoft.com/office/drawing/2014/main" id="{82387244-B778-CC26-CE39-A7C757CD9731}"/>
              </a:ext>
            </a:extLst>
          </p:cNvPr>
          <p:cNvSpPr/>
          <p:nvPr/>
        </p:nvSpPr>
        <p:spPr>
          <a:xfrm>
            <a:off x="161234" y="771413"/>
            <a:ext cx="5315641" cy="594360"/>
          </a:xfrm>
          <a:prstGeom prst="rect">
            <a:avLst/>
          </a:prstGeom>
          <a:noFill/>
          <a:ln/>
        </p:spPr>
        <p:txBody>
          <a:bodyPr wrap="square" rtlCol="0" anchor="ctr"/>
          <a:lstStyle/>
          <a:p>
            <a:pPr algn="ctr">
              <a:buNone/>
            </a:pPr>
            <a:r>
              <a:rPr lang="en-US" sz="3200" b="1" dirty="0">
                <a:solidFill>
                  <a:srgbClr val="C00000"/>
                </a:solidFill>
                <a:latin typeface="Arial Black" panose="020B0A04020102020204" pitchFamily="34" charset="0"/>
              </a:rPr>
              <a:t>Sentiment Conclusion</a:t>
            </a:r>
          </a:p>
        </p:txBody>
      </p:sp>
      <p:grpSp>
        <p:nvGrpSpPr>
          <p:cNvPr id="2" name="Group 1">
            <a:extLst>
              <a:ext uri="{FF2B5EF4-FFF2-40B4-BE49-F238E27FC236}">
                <a16:creationId xmlns:a16="http://schemas.microsoft.com/office/drawing/2014/main" id="{761B28FA-0609-6EBE-0B6F-AE50BCA5C0DB}"/>
              </a:ext>
            </a:extLst>
          </p:cNvPr>
          <p:cNvGrpSpPr/>
          <p:nvPr/>
        </p:nvGrpSpPr>
        <p:grpSpPr>
          <a:xfrm>
            <a:off x="7748075" y="129301"/>
            <a:ext cx="1083203" cy="863386"/>
            <a:chOff x="20532" y="55586"/>
            <a:chExt cx="1083203" cy="863386"/>
          </a:xfrm>
        </p:grpSpPr>
        <p:sp>
          <p:nvSpPr>
            <p:cNvPr id="3" name="Shape 1">
              <a:extLst>
                <a:ext uri="{FF2B5EF4-FFF2-40B4-BE49-F238E27FC236}">
                  <a16:creationId xmlns:a16="http://schemas.microsoft.com/office/drawing/2014/main" id="{D56F10F7-1C81-F49A-90F7-069BFAAAB053}"/>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4" name="Shape 2">
              <a:extLst>
                <a:ext uri="{FF2B5EF4-FFF2-40B4-BE49-F238E27FC236}">
                  <a16:creationId xmlns:a16="http://schemas.microsoft.com/office/drawing/2014/main" id="{F3371ADA-FC40-CC97-CE7B-0FCD43584F6E}"/>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grpSp>
        <p:nvGrpSpPr>
          <p:cNvPr id="7" name="Group 6">
            <a:extLst>
              <a:ext uri="{FF2B5EF4-FFF2-40B4-BE49-F238E27FC236}">
                <a16:creationId xmlns:a16="http://schemas.microsoft.com/office/drawing/2014/main" id="{F5954411-2DEB-3120-20EF-A181E8B5C313}"/>
              </a:ext>
            </a:extLst>
          </p:cNvPr>
          <p:cNvGrpSpPr/>
          <p:nvPr/>
        </p:nvGrpSpPr>
        <p:grpSpPr>
          <a:xfrm>
            <a:off x="-114882" y="-106674"/>
            <a:ext cx="1083203" cy="863386"/>
            <a:chOff x="20532" y="55586"/>
            <a:chExt cx="1083203" cy="863386"/>
          </a:xfrm>
        </p:grpSpPr>
        <p:sp>
          <p:nvSpPr>
            <p:cNvPr id="8" name="Shape 1">
              <a:extLst>
                <a:ext uri="{FF2B5EF4-FFF2-40B4-BE49-F238E27FC236}">
                  <a16:creationId xmlns:a16="http://schemas.microsoft.com/office/drawing/2014/main" id="{8242C714-2D75-E183-DB68-38B1ADFB5EFF}"/>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9" name="Shape 2">
              <a:extLst>
                <a:ext uri="{FF2B5EF4-FFF2-40B4-BE49-F238E27FC236}">
                  <a16:creationId xmlns:a16="http://schemas.microsoft.com/office/drawing/2014/main" id="{DB13B44E-35C4-F1A5-EADA-521C8A43C2D2}"/>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dirty="0"/>
            </a:p>
          </p:txBody>
        </p:sp>
      </p:grpSp>
      <p:grpSp>
        <p:nvGrpSpPr>
          <p:cNvPr id="10" name="Group 9">
            <a:extLst>
              <a:ext uri="{FF2B5EF4-FFF2-40B4-BE49-F238E27FC236}">
                <a16:creationId xmlns:a16="http://schemas.microsoft.com/office/drawing/2014/main" id="{D1210D8A-FE74-F240-4E24-AA601B2548C8}"/>
              </a:ext>
            </a:extLst>
          </p:cNvPr>
          <p:cNvGrpSpPr/>
          <p:nvPr/>
        </p:nvGrpSpPr>
        <p:grpSpPr>
          <a:xfrm>
            <a:off x="7948270" y="4187762"/>
            <a:ext cx="1083203" cy="863386"/>
            <a:chOff x="20532" y="55586"/>
            <a:chExt cx="1083203" cy="863386"/>
          </a:xfrm>
        </p:grpSpPr>
        <p:sp>
          <p:nvSpPr>
            <p:cNvPr id="11" name="Shape 1">
              <a:extLst>
                <a:ext uri="{FF2B5EF4-FFF2-40B4-BE49-F238E27FC236}">
                  <a16:creationId xmlns:a16="http://schemas.microsoft.com/office/drawing/2014/main" id="{3CE80A12-8E8A-BCA5-10B9-F799D0F7A287}"/>
                </a:ext>
              </a:extLst>
            </p:cNvPr>
            <p:cNvSpPr/>
            <p:nvPr/>
          </p:nvSpPr>
          <p:spPr>
            <a:xfrm rot="2673574">
              <a:off x="20532" y="55586"/>
              <a:ext cx="594360" cy="594360"/>
            </a:xfrm>
            <a:prstGeom prst="ellipse">
              <a:avLst/>
            </a:prstGeom>
            <a:solidFill>
              <a:srgbClr val="F5C518">
                <a:alpha val="30000"/>
              </a:srgbClr>
            </a:solidFill>
            <a:ln w="12700">
              <a:solidFill>
                <a:srgbClr val="F5C518"/>
              </a:solidFill>
              <a:prstDash val="solid"/>
            </a:ln>
          </p:spPr>
          <p:txBody>
            <a:bodyPr/>
            <a:lstStyle/>
            <a:p>
              <a:endParaRPr lang="en-US" dirty="0"/>
            </a:p>
          </p:txBody>
        </p:sp>
        <p:sp>
          <p:nvSpPr>
            <p:cNvPr id="12" name="Shape 2">
              <a:extLst>
                <a:ext uri="{FF2B5EF4-FFF2-40B4-BE49-F238E27FC236}">
                  <a16:creationId xmlns:a16="http://schemas.microsoft.com/office/drawing/2014/main" id="{5A0CBC7C-CE08-ACCE-788D-DF447806A621}"/>
                </a:ext>
              </a:extLst>
            </p:cNvPr>
            <p:cNvSpPr/>
            <p:nvPr/>
          </p:nvSpPr>
          <p:spPr>
            <a:xfrm rot="2673574">
              <a:off x="372215" y="187452"/>
              <a:ext cx="731520" cy="731520"/>
            </a:xfrm>
            <a:prstGeom prst="ellipse">
              <a:avLst/>
            </a:prstGeom>
            <a:solidFill>
              <a:srgbClr val="7B2D8B">
                <a:alpha val="30000"/>
              </a:srgbClr>
            </a:solidFill>
            <a:ln w="12700">
              <a:solidFill>
                <a:srgbClr val="7B2D8B"/>
              </a:solidFill>
              <a:prstDash val="solid"/>
            </a:ln>
          </p:spPr>
          <p:txBody>
            <a:bodyPr/>
            <a:lstStyle/>
            <a:p>
              <a:endParaRPr lang="en-US"/>
            </a:p>
          </p:txBody>
        </p:sp>
      </p:grpSp>
      <p:sp>
        <p:nvSpPr>
          <p:cNvPr id="13" name="Rectangle 1">
            <a:extLst>
              <a:ext uri="{FF2B5EF4-FFF2-40B4-BE49-F238E27FC236}">
                <a16:creationId xmlns:a16="http://schemas.microsoft.com/office/drawing/2014/main" id="{21534C71-177F-5728-7D2A-45F4AF97BC7E}"/>
              </a:ext>
            </a:extLst>
          </p:cNvPr>
          <p:cNvSpPr>
            <a:spLocks noChangeArrowheads="1"/>
          </p:cNvSpPr>
          <p:nvPr/>
        </p:nvSpPr>
        <p:spPr bwMode="auto">
          <a:xfrm>
            <a:off x="161234" y="1365773"/>
            <a:ext cx="866571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This project demonstrated a complete NLP pipeline for </a:t>
            </a:r>
            <a:r>
              <a:rPr kumimoji="0" lang="en-US" altLang="en-US" sz="2400" b="0" i="0" u="none" strike="noStrike" cap="none" normalizeH="0" baseline="0" dirty="0" err="1">
                <a:ln>
                  <a:noFill/>
                </a:ln>
                <a:solidFill>
                  <a:schemeClr val="tx1"/>
                </a:solidFill>
                <a:effectLst/>
                <a:latin typeface="Arial" panose="020B0604020202020204" pitchFamily="34" charset="0"/>
              </a:rPr>
              <a:t>analysing</a:t>
            </a:r>
            <a:r>
              <a:rPr kumimoji="0" lang="en-US" altLang="en-US" sz="2400" b="0" i="0" u="none" strike="noStrike" cap="none" normalizeH="0" baseline="0" dirty="0">
                <a:ln>
                  <a:noFill/>
                </a:ln>
                <a:solidFill>
                  <a:schemeClr val="tx1"/>
                </a:solidFill>
                <a:effectLst/>
                <a:latin typeface="Arial" panose="020B0604020202020204" pitchFamily="34" charset="0"/>
              </a:rPr>
              <a:t> unstructured text.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Logistic Regression performed best for sentiment classification after effective preprocessing and TF-IDF feature engineering, while K-Means successfully grouped news articles into meaningful topics.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Arial" panose="020B0604020202020204" pitchFamily="34" charset="0"/>
              </a:rPr>
              <a:t>Overall, the work shows how NLP techniques can turn large text datasets into useful insights for real-world decision making.</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57200"/>
            <a:ext cx="7823937" cy="954107"/>
          </a:xfrm>
          <a:prstGeom prst="rect">
            <a:avLst/>
          </a:prstGeom>
          <a:noFill/>
        </p:spPr>
        <p:txBody>
          <a:bodyPr wrap="none">
            <a:spAutoFit/>
          </a:bodyPr>
          <a:lstStyle/>
          <a:p>
            <a:endParaRPr sz="2000" dirty="0">
              <a:solidFill>
                <a:srgbClr val="C00000"/>
              </a:solidFill>
            </a:endParaRPr>
          </a:p>
          <a:p>
            <a:pPr>
              <a:defRPr sz="3200" b="1"/>
            </a:pPr>
            <a:r>
              <a:rPr sz="3600" dirty="0">
                <a:solidFill>
                  <a:srgbClr val="C00000"/>
                </a:solidFill>
              </a:rPr>
              <a:t>Q2 NLP Exploration: Bigrams &amp; Trigrams</a:t>
            </a:r>
          </a:p>
        </p:txBody>
      </p:sp>
      <p:sp>
        <p:nvSpPr>
          <p:cNvPr id="5" name="TextBox 4"/>
          <p:cNvSpPr txBox="1"/>
          <p:nvPr/>
        </p:nvSpPr>
        <p:spPr>
          <a:xfrm>
            <a:off x="457200" y="1371600"/>
            <a:ext cx="8229600" cy="914400"/>
          </a:xfrm>
          <a:prstGeom prst="rect">
            <a:avLst/>
          </a:prstGeom>
          <a:noFill/>
        </p:spPr>
        <p:txBody>
          <a:bodyPr wrap="square">
            <a:spAutoFit/>
          </a:bodyPr>
          <a:lstStyle/>
          <a:p>
            <a:r>
              <a:rPr dirty="0"/>
              <a:t>The bigram and trigram analysis for the topic clustering dataset reveals the most common word pairs and triplets, helping to identify multi-word topics such as '</a:t>
            </a:r>
            <a:r>
              <a:rPr dirty="0" err="1"/>
              <a:t>donald</a:t>
            </a:r>
            <a:r>
              <a:rPr dirty="0"/>
              <a:t> trump' or '</a:t>
            </a:r>
            <a:r>
              <a:rPr dirty="0" err="1"/>
              <a:t>york</a:t>
            </a:r>
            <a:r>
              <a:rPr dirty="0"/>
              <a:t> city</a:t>
            </a:r>
            <a:r>
              <a:rPr lang="en-US" dirty="0"/>
              <a:t> mayor</a:t>
            </a:r>
            <a:r>
              <a:rPr dirty="0"/>
              <a:t>'.</a:t>
            </a:r>
          </a:p>
        </p:txBody>
      </p:sp>
      <p:pic>
        <p:nvPicPr>
          <p:cNvPr id="9" name="Picture 8">
            <a:extLst>
              <a:ext uri="{FF2B5EF4-FFF2-40B4-BE49-F238E27FC236}">
                <a16:creationId xmlns:a16="http://schemas.microsoft.com/office/drawing/2014/main" id="{ACC765BA-B1AB-23F7-D738-4D4E53DE2ABB}"/>
              </a:ext>
            </a:extLst>
          </p:cNvPr>
          <p:cNvPicPr>
            <a:picLocks noChangeAspect="1"/>
          </p:cNvPicPr>
          <p:nvPr/>
        </p:nvPicPr>
        <p:blipFill>
          <a:blip r:embed="rId2"/>
          <a:stretch>
            <a:fillRect/>
          </a:stretch>
        </p:blipFill>
        <p:spPr>
          <a:xfrm>
            <a:off x="40363" y="2286000"/>
            <a:ext cx="4158011" cy="2755900"/>
          </a:xfrm>
          <a:prstGeom prst="rect">
            <a:avLst/>
          </a:prstGeom>
        </p:spPr>
      </p:pic>
      <p:pic>
        <p:nvPicPr>
          <p:cNvPr id="11" name="Picture 10">
            <a:extLst>
              <a:ext uri="{FF2B5EF4-FFF2-40B4-BE49-F238E27FC236}">
                <a16:creationId xmlns:a16="http://schemas.microsoft.com/office/drawing/2014/main" id="{FBE307E9-A26D-F6C2-74AC-312879BAA7CB}"/>
              </a:ext>
            </a:extLst>
          </p:cNvPr>
          <p:cNvPicPr>
            <a:picLocks noChangeAspect="1"/>
          </p:cNvPicPr>
          <p:nvPr/>
        </p:nvPicPr>
        <p:blipFill>
          <a:blip r:embed="rId3"/>
          <a:stretch>
            <a:fillRect/>
          </a:stretch>
        </p:blipFill>
        <p:spPr>
          <a:xfrm>
            <a:off x="4436807" y="2443828"/>
            <a:ext cx="4436807" cy="24402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1350" y="130825"/>
            <a:ext cx="7297960" cy="861774"/>
          </a:xfrm>
          <a:prstGeom prst="rect">
            <a:avLst/>
          </a:prstGeom>
          <a:noFill/>
        </p:spPr>
        <p:txBody>
          <a:bodyPr wrap="none">
            <a:spAutoFit/>
          </a:bodyPr>
          <a:lstStyle/>
          <a:p>
            <a:endParaRPr dirty="0">
              <a:solidFill>
                <a:srgbClr val="C00000"/>
              </a:solidFill>
            </a:endParaRPr>
          </a:p>
          <a:p>
            <a:pPr>
              <a:defRPr sz="3200" b="1"/>
            </a:pPr>
            <a:r>
              <a:rPr dirty="0">
                <a:solidFill>
                  <a:srgbClr val="C00000"/>
                </a:solidFill>
              </a:rPr>
              <a:t>TF-IDF vs Transformer Cluster Comparison</a:t>
            </a:r>
          </a:p>
        </p:txBody>
      </p:sp>
      <p:pic>
        <p:nvPicPr>
          <p:cNvPr id="4" name="Picture 3" descr="Clustering_Visual_Comparison_Sizes.png"/>
          <p:cNvPicPr>
            <a:picLocks noChangeAspect="1"/>
          </p:cNvPicPr>
          <p:nvPr/>
        </p:nvPicPr>
        <p:blipFill>
          <a:blip r:embed="rId2"/>
          <a:stretch>
            <a:fillRect/>
          </a:stretch>
        </p:blipFill>
        <p:spPr>
          <a:xfrm>
            <a:off x="697175" y="1839404"/>
            <a:ext cx="7303825" cy="3235975"/>
          </a:xfrm>
          <a:prstGeom prst="rect">
            <a:avLst/>
          </a:prstGeom>
        </p:spPr>
      </p:pic>
      <p:sp>
        <p:nvSpPr>
          <p:cNvPr id="5" name="TextBox 4"/>
          <p:cNvSpPr txBox="1"/>
          <p:nvPr/>
        </p:nvSpPr>
        <p:spPr>
          <a:xfrm>
            <a:off x="415530" y="914400"/>
            <a:ext cx="8229600" cy="914400"/>
          </a:xfrm>
          <a:prstGeom prst="rect">
            <a:avLst/>
          </a:prstGeom>
          <a:noFill/>
        </p:spPr>
        <p:txBody>
          <a:bodyPr wrap="square">
            <a:spAutoFit/>
          </a:bodyPr>
          <a:lstStyle/>
          <a:p>
            <a:r>
              <a:rPr dirty="0"/>
              <a:t>The visual compares the clusters obtained using TF-IDF features versus Transformer Embeddings. Transformers capture semantic meaning beyond keywords, grouping documents differently when topics share vocabulary but differ in context.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4903" y="335280"/>
            <a:ext cx="5001497" cy="584775"/>
          </a:xfrm>
          <a:prstGeom prst="rect">
            <a:avLst/>
          </a:prstGeom>
          <a:noFill/>
        </p:spPr>
        <p:txBody>
          <a:bodyPr wrap="none">
            <a:spAutoFit/>
          </a:bodyPr>
          <a:lstStyle/>
          <a:p>
            <a:r>
              <a:rPr sz="3200" dirty="0">
                <a:solidFill>
                  <a:srgbClr val="C00000"/>
                </a:solidFill>
                <a:latin typeface="Arial Black" panose="020B0A04020102020204" pitchFamily="34" charset="0"/>
              </a:rPr>
              <a:t>Category Distribution</a:t>
            </a:r>
          </a:p>
        </p:txBody>
      </p:sp>
      <p:pic>
        <p:nvPicPr>
          <p:cNvPr id="3" name="Picture 2" descr="Clustering_Visual_8b_Category_Distribution.png"/>
          <p:cNvPicPr>
            <a:picLocks noChangeAspect="1"/>
          </p:cNvPicPr>
          <p:nvPr/>
        </p:nvPicPr>
        <p:blipFill>
          <a:blip r:embed="rId2"/>
          <a:stretch>
            <a:fillRect/>
          </a:stretch>
        </p:blipFill>
        <p:spPr>
          <a:xfrm>
            <a:off x="457200" y="920054"/>
            <a:ext cx="5619750" cy="2809875"/>
          </a:xfrm>
          <a:prstGeom prst="rect">
            <a:avLst/>
          </a:prstGeom>
        </p:spPr>
      </p:pic>
      <p:sp>
        <p:nvSpPr>
          <p:cNvPr id="4" name="TextBox 3"/>
          <p:cNvSpPr txBox="1"/>
          <p:nvPr/>
        </p:nvSpPr>
        <p:spPr>
          <a:xfrm>
            <a:off x="352425" y="3761780"/>
            <a:ext cx="8362950" cy="1015663"/>
          </a:xfrm>
          <a:prstGeom prst="rect">
            <a:avLst/>
          </a:prstGeom>
          <a:noFill/>
        </p:spPr>
        <p:txBody>
          <a:bodyPr wrap="square">
            <a:spAutoFit/>
          </a:bodyPr>
          <a:lstStyle/>
          <a:p>
            <a:pPr>
              <a:defRPr sz="1800"/>
            </a:pPr>
            <a:r>
              <a:rPr sz="2000" dirty="0"/>
              <a:t>This chart shows the distribution of news categories in the dataset. Understanding the distribution helps in identifying any class imbalance, which is crucial for evaluating clustering performance.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1475" y="767655"/>
            <a:ext cx="3934282" cy="584775"/>
          </a:xfrm>
          <a:prstGeom prst="rect">
            <a:avLst/>
          </a:prstGeom>
          <a:noFill/>
        </p:spPr>
        <p:txBody>
          <a:bodyPr wrap="none">
            <a:spAutoFit/>
          </a:bodyPr>
          <a:lstStyle/>
          <a:p>
            <a:r>
              <a:rPr sz="3200" dirty="0">
                <a:solidFill>
                  <a:srgbClr val="C00000"/>
                </a:solidFill>
                <a:latin typeface="Arial Black" panose="020B0A04020102020204" pitchFamily="34" charset="0"/>
              </a:rPr>
              <a:t>Silhouette Score</a:t>
            </a:r>
          </a:p>
        </p:txBody>
      </p:sp>
      <p:pic>
        <p:nvPicPr>
          <p:cNvPr id="3" name="Picture 2" descr="Clustering_Visual_10_Silhouette_Score.png"/>
          <p:cNvPicPr>
            <a:picLocks noChangeAspect="1"/>
          </p:cNvPicPr>
          <p:nvPr/>
        </p:nvPicPr>
        <p:blipFill>
          <a:blip r:embed="rId2"/>
          <a:srcRect r="7758"/>
          <a:stretch>
            <a:fillRect/>
          </a:stretch>
        </p:blipFill>
        <p:spPr>
          <a:xfrm>
            <a:off x="188595" y="1275486"/>
            <a:ext cx="5316855" cy="3362325"/>
          </a:xfrm>
          <a:prstGeom prst="rect">
            <a:avLst/>
          </a:prstGeom>
        </p:spPr>
      </p:pic>
      <p:sp>
        <p:nvSpPr>
          <p:cNvPr id="4" name="TextBox 3"/>
          <p:cNvSpPr txBox="1"/>
          <p:nvPr/>
        </p:nvSpPr>
        <p:spPr>
          <a:xfrm>
            <a:off x="5669280" y="1371600"/>
            <a:ext cx="3200400" cy="3477875"/>
          </a:xfrm>
          <a:prstGeom prst="rect">
            <a:avLst/>
          </a:prstGeom>
          <a:noFill/>
        </p:spPr>
        <p:txBody>
          <a:bodyPr wrap="square">
            <a:spAutoFit/>
          </a:bodyPr>
          <a:lstStyle/>
          <a:p>
            <a:pPr>
              <a:defRPr sz="1800"/>
            </a:pPr>
            <a:r>
              <a:rPr sz="2000" dirty="0"/>
              <a:t>The Silhouette Score evaluates how well-defined the clusters are.</a:t>
            </a:r>
            <a:endParaRPr lang="en-US" sz="2000" dirty="0"/>
          </a:p>
          <a:p>
            <a:pPr>
              <a:defRPr sz="1800"/>
            </a:pPr>
            <a:endParaRPr lang="en-US" sz="2000" dirty="0"/>
          </a:p>
          <a:p>
            <a:pPr>
              <a:defRPr sz="1800"/>
            </a:pPr>
            <a:r>
              <a:rPr sz="2000" dirty="0"/>
              <a:t>A higher score indicates that documents are closer to members of their own cluster and further from other clusters, helping to confirm the optimal number of clusters.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12505"/>
            <a:ext cx="4311950" cy="584775"/>
          </a:xfrm>
          <a:prstGeom prst="rect">
            <a:avLst/>
          </a:prstGeom>
          <a:noFill/>
        </p:spPr>
        <p:txBody>
          <a:bodyPr wrap="none">
            <a:spAutoFit/>
          </a:bodyPr>
          <a:lstStyle/>
          <a:p>
            <a:r>
              <a:rPr sz="3200" dirty="0">
                <a:solidFill>
                  <a:srgbClr val="C00000"/>
                </a:solidFill>
                <a:latin typeface="Arial Black" panose="020B0A04020102020204" pitchFamily="34" charset="0"/>
              </a:rPr>
              <a:t>Global Word Cloud</a:t>
            </a:r>
          </a:p>
        </p:txBody>
      </p:sp>
      <p:pic>
        <p:nvPicPr>
          <p:cNvPr id="3" name="Picture 2" descr="Clustering_Visual_12_Global_WordCloud.png"/>
          <p:cNvPicPr>
            <a:picLocks noChangeAspect="1"/>
          </p:cNvPicPr>
          <p:nvPr/>
        </p:nvPicPr>
        <p:blipFill>
          <a:blip r:embed="rId2"/>
          <a:srcRect l="8903" t="9091" r="7007" b="12987"/>
          <a:stretch>
            <a:fillRect/>
          </a:stretch>
        </p:blipFill>
        <p:spPr>
          <a:xfrm>
            <a:off x="411480" y="1097280"/>
            <a:ext cx="4722496" cy="3590925"/>
          </a:xfrm>
          <a:prstGeom prst="rect">
            <a:avLst/>
          </a:prstGeom>
        </p:spPr>
      </p:pic>
      <p:sp>
        <p:nvSpPr>
          <p:cNvPr id="4" name="TextBox 3"/>
          <p:cNvSpPr txBox="1"/>
          <p:nvPr/>
        </p:nvSpPr>
        <p:spPr>
          <a:xfrm>
            <a:off x="5133976" y="1495425"/>
            <a:ext cx="3630930" cy="3046988"/>
          </a:xfrm>
          <a:prstGeom prst="rect">
            <a:avLst/>
          </a:prstGeom>
          <a:noFill/>
        </p:spPr>
        <p:txBody>
          <a:bodyPr wrap="square">
            <a:spAutoFit/>
          </a:bodyPr>
          <a:lstStyle/>
          <a:p>
            <a:pPr marL="342900" indent="-342900">
              <a:buFont typeface="Arial" panose="020B0604020202020204" pitchFamily="34" charset="0"/>
              <a:buChar char="•"/>
              <a:defRPr sz="1800"/>
            </a:pPr>
            <a:r>
              <a:rPr sz="2400" dirty="0"/>
              <a:t>The Global Word Cloud provides a visual summary of the most frequent words across the entire cleaned news dataset, offering a quick overview of the dominant topics.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8674" y="188654"/>
            <a:ext cx="5264326" cy="584775"/>
          </a:xfrm>
          <a:prstGeom prst="rect">
            <a:avLst/>
          </a:prstGeom>
          <a:noFill/>
        </p:spPr>
        <p:txBody>
          <a:bodyPr wrap="none">
            <a:spAutoFit/>
          </a:bodyPr>
          <a:lstStyle/>
          <a:p>
            <a:r>
              <a:rPr sz="3200" dirty="0">
                <a:solidFill>
                  <a:srgbClr val="C00000"/>
                </a:solidFill>
                <a:latin typeface="Arial Black" panose="020B0A04020102020204" pitchFamily="34" charset="0"/>
              </a:rPr>
              <a:t>Bag-of-Words Features</a:t>
            </a:r>
          </a:p>
        </p:txBody>
      </p:sp>
      <p:pic>
        <p:nvPicPr>
          <p:cNvPr id="3" name="Picture 2" descr="Clustering_Visual_13_BoW.png"/>
          <p:cNvPicPr>
            <a:picLocks noChangeAspect="1"/>
          </p:cNvPicPr>
          <p:nvPr/>
        </p:nvPicPr>
        <p:blipFill>
          <a:blip r:embed="rId2"/>
          <a:stretch>
            <a:fillRect/>
          </a:stretch>
        </p:blipFill>
        <p:spPr>
          <a:xfrm>
            <a:off x="457200" y="761999"/>
            <a:ext cx="6296025" cy="3148013"/>
          </a:xfrm>
          <a:prstGeom prst="rect">
            <a:avLst/>
          </a:prstGeom>
        </p:spPr>
      </p:pic>
      <p:sp>
        <p:nvSpPr>
          <p:cNvPr id="4" name="TextBox 3"/>
          <p:cNvSpPr txBox="1"/>
          <p:nvPr/>
        </p:nvSpPr>
        <p:spPr>
          <a:xfrm>
            <a:off x="828674" y="3971746"/>
            <a:ext cx="7858125" cy="923330"/>
          </a:xfrm>
          <a:prstGeom prst="rect">
            <a:avLst/>
          </a:prstGeom>
          <a:noFill/>
        </p:spPr>
        <p:txBody>
          <a:bodyPr wrap="square">
            <a:spAutoFit/>
          </a:bodyPr>
          <a:lstStyle/>
          <a:p>
            <a:pPr>
              <a:defRPr sz="1800"/>
            </a:pPr>
            <a:r>
              <a:rPr dirty="0"/>
              <a:t>Using the Bag-of-Words (BoW) approach, we extracted the top features based on raw word counts. This helps to identify the most common terms, although it may overemphasize frequent but less meaningful words.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529650"/>
            <a:ext cx="3752950" cy="584775"/>
          </a:xfrm>
          <a:prstGeom prst="rect">
            <a:avLst/>
          </a:prstGeom>
          <a:noFill/>
        </p:spPr>
        <p:txBody>
          <a:bodyPr wrap="none">
            <a:spAutoFit/>
          </a:bodyPr>
          <a:lstStyle/>
          <a:p>
            <a:r>
              <a:rPr sz="3200" b="1" dirty="0">
                <a:solidFill>
                  <a:srgbClr val="C00000"/>
                </a:solidFill>
                <a:latin typeface="Arial Black" panose="020B0A04020102020204" pitchFamily="34" charset="0"/>
              </a:rPr>
              <a:t>TF-IDF Features</a:t>
            </a:r>
          </a:p>
        </p:txBody>
      </p:sp>
      <p:pic>
        <p:nvPicPr>
          <p:cNvPr id="3" name="Picture 2" descr="Clustering_Visual_14_TFIDF.png"/>
          <p:cNvPicPr>
            <a:picLocks noChangeAspect="1"/>
          </p:cNvPicPr>
          <p:nvPr/>
        </p:nvPicPr>
        <p:blipFill>
          <a:blip r:embed="rId2"/>
          <a:stretch>
            <a:fillRect/>
          </a:stretch>
        </p:blipFill>
        <p:spPr>
          <a:xfrm>
            <a:off x="274320" y="1093470"/>
            <a:ext cx="5638800" cy="2819400"/>
          </a:xfrm>
          <a:prstGeom prst="rect">
            <a:avLst/>
          </a:prstGeom>
        </p:spPr>
      </p:pic>
      <p:sp>
        <p:nvSpPr>
          <p:cNvPr id="4" name="TextBox 3"/>
          <p:cNvSpPr txBox="1"/>
          <p:nvPr/>
        </p:nvSpPr>
        <p:spPr>
          <a:xfrm>
            <a:off x="457200" y="3912870"/>
            <a:ext cx="8077200" cy="923330"/>
          </a:xfrm>
          <a:prstGeom prst="rect">
            <a:avLst/>
          </a:prstGeom>
          <a:noFill/>
        </p:spPr>
        <p:txBody>
          <a:bodyPr wrap="square">
            <a:spAutoFit/>
          </a:bodyPr>
          <a:lstStyle/>
          <a:p>
            <a:pPr>
              <a:defRPr sz="1800"/>
            </a:pPr>
            <a:r>
              <a:rPr dirty="0"/>
              <a:t>The TF-IDF features weigh words based on their uniqueness across documents. Unlike BoW, TF-IDF effectively penalizes common words, allowing more distinct and topic-specific keywords to stand out.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07335"/>
            <a:ext cx="5468164" cy="523220"/>
          </a:xfrm>
          <a:prstGeom prst="rect">
            <a:avLst/>
          </a:prstGeom>
          <a:noFill/>
        </p:spPr>
        <p:txBody>
          <a:bodyPr wrap="none">
            <a:spAutoFit/>
          </a:bodyPr>
          <a:lstStyle/>
          <a:p>
            <a:r>
              <a:rPr sz="2800" dirty="0">
                <a:solidFill>
                  <a:srgbClr val="C00000"/>
                </a:solidFill>
                <a:latin typeface="Arial Black" panose="020B0A04020102020204" pitchFamily="34" charset="0"/>
              </a:rPr>
              <a:t>BoW vs TF-IDF Comparison</a:t>
            </a:r>
          </a:p>
        </p:txBody>
      </p:sp>
      <p:pic>
        <p:nvPicPr>
          <p:cNvPr id="3" name="Picture 2" descr="Clustering_Visual_15_Comparison.png"/>
          <p:cNvPicPr>
            <a:picLocks noChangeAspect="1"/>
          </p:cNvPicPr>
          <p:nvPr/>
        </p:nvPicPr>
        <p:blipFill>
          <a:blip r:embed="rId2"/>
          <a:stretch>
            <a:fillRect/>
          </a:stretch>
        </p:blipFill>
        <p:spPr>
          <a:xfrm>
            <a:off x="457200" y="619125"/>
            <a:ext cx="6534150" cy="3267075"/>
          </a:xfrm>
          <a:prstGeom prst="rect">
            <a:avLst/>
          </a:prstGeom>
        </p:spPr>
      </p:pic>
      <p:sp>
        <p:nvSpPr>
          <p:cNvPr id="4" name="TextBox 3"/>
          <p:cNvSpPr txBox="1"/>
          <p:nvPr/>
        </p:nvSpPr>
        <p:spPr>
          <a:xfrm>
            <a:off x="533400" y="3924121"/>
            <a:ext cx="8048625" cy="923330"/>
          </a:xfrm>
          <a:prstGeom prst="rect">
            <a:avLst/>
          </a:prstGeom>
          <a:noFill/>
        </p:spPr>
        <p:txBody>
          <a:bodyPr wrap="square">
            <a:spAutoFit/>
          </a:bodyPr>
          <a:lstStyle/>
          <a:p>
            <a:pPr>
              <a:defRPr sz="1800"/>
            </a:pPr>
            <a:r>
              <a:rPr dirty="0"/>
              <a:t>This comparison illustrates the difference between BoW counts and TF-IDF weights for the same words. It demonstrates how TF-IDF provides a more refined text representation.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2175" y="194310"/>
            <a:ext cx="4353051" cy="584775"/>
          </a:xfrm>
          <a:prstGeom prst="rect">
            <a:avLst/>
          </a:prstGeom>
          <a:noFill/>
        </p:spPr>
        <p:txBody>
          <a:bodyPr wrap="none">
            <a:spAutoFit/>
          </a:bodyPr>
          <a:lstStyle/>
          <a:p>
            <a:r>
              <a:rPr sz="3200" dirty="0">
                <a:solidFill>
                  <a:srgbClr val="C00000"/>
                </a:solidFill>
                <a:latin typeface="Arial Black" panose="020B0A04020102020204" pitchFamily="34" charset="0"/>
              </a:rPr>
              <a:t>Topic Word Clouds</a:t>
            </a:r>
          </a:p>
        </p:txBody>
      </p:sp>
      <p:pic>
        <p:nvPicPr>
          <p:cNvPr id="3" name="Picture 2" descr="Clustering_Visual_13_Topic_WordClouds.png"/>
          <p:cNvPicPr>
            <a:picLocks noChangeAspect="1"/>
          </p:cNvPicPr>
          <p:nvPr/>
        </p:nvPicPr>
        <p:blipFill>
          <a:blip r:embed="rId2"/>
          <a:srcRect l="9904" r="11426"/>
          <a:stretch>
            <a:fillRect/>
          </a:stretch>
        </p:blipFill>
        <p:spPr>
          <a:xfrm>
            <a:off x="104900" y="857250"/>
            <a:ext cx="5057649" cy="4285968"/>
          </a:xfrm>
          <a:prstGeom prst="rect">
            <a:avLst/>
          </a:prstGeom>
        </p:spPr>
      </p:pic>
      <p:sp>
        <p:nvSpPr>
          <p:cNvPr id="4" name="TextBox 3"/>
          <p:cNvSpPr txBox="1"/>
          <p:nvPr/>
        </p:nvSpPr>
        <p:spPr>
          <a:xfrm>
            <a:off x="5162549" y="1295400"/>
            <a:ext cx="3619501" cy="3170099"/>
          </a:xfrm>
          <a:prstGeom prst="rect">
            <a:avLst/>
          </a:prstGeom>
          <a:noFill/>
        </p:spPr>
        <p:txBody>
          <a:bodyPr wrap="square">
            <a:spAutoFit/>
          </a:bodyPr>
          <a:lstStyle/>
          <a:p>
            <a:pPr marL="342900" indent="-342900">
              <a:buFont typeface="Arial" panose="020B0604020202020204" pitchFamily="34" charset="0"/>
              <a:buChar char="•"/>
              <a:defRPr sz="1800"/>
            </a:pPr>
            <a:r>
              <a:rPr sz="2000" dirty="0"/>
              <a:t>These word clouds are generated for each individual cluster. </a:t>
            </a:r>
            <a:endParaRPr lang="en-US" sz="2000" dirty="0"/>
          </a:p>
          <a:p>
            <a:pPr marL="342900" indent="-342900">
              <a:buFont typeface="Arial" panose="020B0604020202020204" pitchFamily="34" charset="0"/>
              <a:buChar char="•"/>
              <a:defRPr sz="1800"/>
            </a:pPr>
            <a:endParaRPr lang="en-US" sz="2000" dirty="0"/>
          </a:p>
          <a:p>
            <a:pPr marL="342900" indent="-342900">
              <a:buFont typeface="Arial" panose="020B0604020202020204" pitchFamily="34" charset="0"/>
              <a:buChar char="•"/>
              <a:defRPr sz="1800"/>
            </a:pPr>
            <a:r>
              <a:rPr sz="2000" dirty="0"/>
              <a:t>They allow us to interpret the specific themes and subjects captured by the K-Means clustering algorithm based on the most prominent words in each group.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981" y="240891"/>
            <a:ext cx="6191118" cy="861774"/>
          </a:xfrm>
          <a:prstGeom prst="rect">
            <a:avLst/>
          </a:prstGeom>
          <a:noFill/>
        </p:spPr>
        <p:txBody>
          <a:bodyPr wrap="none">
            <a:spAutoFit/>
          </a:bodyPr>
          <a:lstStyle/>
          <a:p>
            <a:endParaRPr dirty="0">
              <a:solidFill>
                <a:srgbClr val="C00000"/>
              </a:solidFill>
              <a:effectLst>
                <a:outerShdw blurRad="38100" dist="38100" dir="2700000" algn="tl">
                  <a:srgbClr val="000000">
                    <a:alpha val="43137"/>
                  </a:srgbClr>
                </a:outerShdw>
              </a:effectLst>
            </a:endParaRPr>
          </a:p>
          <a:p>
            <a:pPr>
              <a:defRPr sz="3200" b="1"/>
            </a:pPr>
            <a:r>
              <a:rPr dirty="0">
                <a:solidFill>
                  <a:srgbClr val="C00000"/>
                </a:solidFill>
                <a:effectLst>
                  <a:outerShdw blurRad="38100" dist="38100" dir="2700000" algn="tl">
                    <a:srgbClr val="000000">
                      <a:alpha val="43137"/>
                    </a:srgbClr>
                  </a:outerShdw>
                </a:effectLst>
              </a:rPr>
              <a:t>Final Conclusion: Clustering Quality</a:t>
            </a:r>
          </a:p>
        </p:txBody>
      </p:sp>
      <p:sp>
        <p:nvSpPr>
          <p:cNvPr id="3" name="TextBox 2"/>
          <p:cNvSpPr txBox="1"/>
          <p:nvPr/>
        </p:nvSpPr>
        <p:spPr>
          <a:xfrm>
            <a:off x="176981" y="1007374"/>
            <a:ext cx="8349190" cy="3785652"/>
          </a:xfrm>
          <a:prstGeom prst="rect">
            <a:avLst/>
          </a:prstGeom>
          <a:noFill/>
        </p:spPr>
        <p:txBody>
          <a:bodyPr wrap="square">
            <a:spAutoFit/>
          </a:bodyPr>
          <a:lstStyle/>
          <a:p>
            <a:r>
              <a:rPr sz="2400" b="1" dirty="0"/>
              <a:t>TF-IDF Approach:</a:t>
            </a:r>
          </a:p>
          <a:p>
            <a:pPr marL="800100" lvl="1" indent="-342900">
              <a:buFont typeface="Wingdings" panose="05000000000000000000" pitchFamily="2" charset="2"/>
              <a:buChar char="v"/>
            </a:pPr>
            <a:r>
              <a:rPr sz="2400" dirty="0"/>
              <a:t>Highly interpretable &amp; computationally efficient</a:t>
            </a:r>
          </a:p>
          <a:p>
            <a:pPr marL="800100" lvl="1" indent="-342900">
              <a:buFont typeface="Wingdings" panose="05000000000000000000" pitchFamily="2" charset="2"/>
              <a:buChar char="v"/>
            </a:pPr>
            <a:r>
              <a:rPr sz="2400" dirty="0"/>
              <a:t>Effective for keyword-driven topics</a:t>
            </a:r>
          </a:p>
          <a:p>
            <a:pPr marL="800100" lvl="1" indent="-342900">
              <a:buFont typeface="Wingdings" panose="05000000000000000000" pitchFamily="2" charset="2"/>
              <a:buChar char="v"/>
            </a:pPr>
            <a:r>
              <a:rPr sz="2400" dirty="0"/>
              <a:t>Struggles with synonymy, polysemy, and sparse representation</a:t>
            </a:r>
            <a:endParaRPr lang="en-US" sz="2400" dirty="0"/>
          </a:p>
          <a:p>
            <a:pPr lvl="1"/>
            <a:endParaRPr sz="2400" dirty="0"/>
          </a:p>
          <a:p>
            <a:r>
              <a:rPr sz="2400" b="1" dirty="0"/>
              <a:t>Transformer Embeddings:</a:t>
            </a:r>
          </a:p>
          <a:p>
            <a:pPr marL="800100" lvl="1" indent="-342900">
              <a:buFont typeface="Wingdings" panose="05000000000000000000" pitchFamily="2" charset="2"/>
              <a:buChar char="Ø"/>
            </a:pPr>
            <a:r>
              <a:rPr sz="2400" dirty="0"/>
              <a:t>Captures deep semantic meaning &amp; handles context better</a:t>
            </a:r>
          </a:p>
          <a:p>
            <a:pPr marL="800100" lvl="1" indent="-342900">
              <a:buFont typeface="Wingdings" panose="05000000000000000000" pitchFamily="2" charset="2"/>
              <a:buChar char="Ø"/>
            </a:pPr>
            <a:r>
              <a:rPr sz="2400" dirty="0"/>
              <a:t>Dense representations naturally capture similarities</a:t>
            </a:r>
          </a:p>
          <a:p>
            <a:pPr marL="800100" lvl="1" indent="-342900">
              <a:buFont typeface="Wingdings" panose="05000000000000000000" pitchFamily="2" charset="2"/>
              <a:buChar char="Ø"/>
            </a:pPr>
            <a:r>
              <a:rPr sz="2400" dirty="0"/>
              <a:t>Less interpretable &amp; computationally expensive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597</TotalTime>
  <Words>1037</Words>
  <Application>Microsoft Office PowerPoint</Application>
  <PresentationFormat>On-screen Show (16:9)</PresentationFormat>
  <Paragraphs>162</Paragraphs>
  <Slides>25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Arial Black</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UMU SmartCaf</dc:title>
  <dc:subject>PptxGenJS Presentation</dc:subject>
  <dc:creator>Kato Joseph Bwanika</dc:creator>
  <cp:lastModifiedBy>Kato Joseph Bwanika</cp:lastModifiedBy>
  <cp:revision>15</cp:revision>
  <dcterms:created xsi:type="dcterms:W3CDTF">2026-04-30T02:33:04Z</dcterms:created>
  <dcterms:modified xsi:type="dcterms:W3CDTF">2026-05-09T04:45:36Z</dcterms:modified>
</cp:coreProperties>
</file>